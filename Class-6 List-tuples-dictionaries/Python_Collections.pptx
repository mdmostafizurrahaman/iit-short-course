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E3A5F">
              <a:alpha val="60000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0EA5E9">
              <a:alpha val="30196"/>
            </a:srgbClr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548640"/>
            <a:ext cx="1463040" cy="365760"/>
          </a:xfrm>
          <a:prstGeom prst="roundRect">
            <a:avLst>
              <a:gd fmla="val 16667" name="adj"/>
            </a:avLst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5486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CHAPTER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Collections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Lists · Tuples · Dictionaries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283464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Storing &amp; organizing multiple values in Python — made simple for everyone.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4206240"/>
            <a:ext cx="2560320" cy="502920"/>
          </a:xfrm>
          <a:prstGeom prst="roundRect">
            <a:avLst>
              <a:gd fmla="val 16667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200" y="42062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  Lists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291840" y="4206240"/>
            <a:ext cx="2560320" cy="50292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3291840" y="42062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Tuples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126480" y="4206240"/>
            <a:ext cx="2560320" cy="502920"/>
          </a:xfrm>
          <a:prstGeom prst="roundRect">
            <a:avLst>
              <a:gd fmla="val 16667" name="adj"/>
            </a:avLst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6126480" y="420624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📖  Dictionaries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Do We Need Collections?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Imagine you want to save the marks of 30 students. Without collections, you'd need 30 variables!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7200" y="1600200"/>
            <a:ext cx="3835800" cy="1353900"/>
          </a:xfrm>
          <a:prstGeom prst="rect">
            <a:avLst/>
          </a:prstGeom>
          <a:solidFill>
            <a:srgbClr val="450A0A"/>
          </a:solidFill>
          <a:ln cap="flat" cmpd="sng" w="1905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548640" y="166420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❌  Without Collections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50" y="2011674"/>
            <a:ext cx="3657600" cy="8316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85800" y="2103126"/>
            <a:ext cx="3474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mark1 = 85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mark2 = 92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mark3 = 78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... 27 more variables!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754875" y="1600200"/>
            <a:ext cx="3931800" cy="1353900"/>
          </a:xfrm>
          <a:prstGeom prst="rect">
            <a:avLst/>
          </a:prstGeom>
          <a:solidFill>
            <a:srgbClr val="052E16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846320" y="166420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✅  With Collections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846325" y="2011675"/>
            <a:ext cx="3749100" cy="8316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983480" y="210312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marks = [85, 92, 78, 91, 88, ...]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3133287"/>
            <a:ext cx="2626500" cy="1575900"/>
          </a:xfrm>
          <a:prstGeom prst="rect">
            <a:avLst/>
          </a:prstGeom>
          <a:solidFill>
            <a:srgbClr val="1E293B"/>
          </a:solidFill>
          <a:ln cap="flat" cmpd="sng" w="1825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25" lIns="87525" spcFirstLastPara="1" rIns="87525" wrap="square" tIns="8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62259" y="3220835"/>
            <a:ext cx="24165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532"/>
              <a:buFont typeface="Calibri"/>
              <a:buNone/>
            </a:pPr>
            <a:r>
              <a:rPr b="1" i="0" lang="en-US" sz="1532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📋  List</a:t>
            </a:r>
            <a:endParaRPr b="0" i="0" sz="15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62259" y="3614801"/>
            <a:ext cx="24165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49"/>
              <a:buFont typeface="Calibri"/>
              <a:buNone/>
            </a:pPr>
            <a:r>
              <a:rPr b="0" i="0" lang="en-US" sz="1149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Ordered, changeable items</a:t>
            </a:r>
            <a:endParaRPr b="0" i="0" sz="11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49"/>
              <a:buFont typeface="Calibri"/>
              <a:buNone/>
            </a:pPr>
            <a:r>
              <a:rPr b="0" i="0" lang="en-US" sz="1149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(like a shopping list)</a:t>
            </a:r>
            <a:endParaRPr b="0" i="0" sz="11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58766" y="3133287"/>
            <a:ext cx="2626500" cy="1575900"/>
          </a:xfrm>
          <a:prstGeom prst="rect">
            <a:avLst/>
          </a:prstGeom>
          <a:solidFill>
            <a:srgbClr val="1E293B"/>
          </a:solidFill>
          <a:ln cap="flat" cmpd="sng" w="182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25" lIns="87525" spcFirstLastPara="1" rIns="87525" wrap="square" tIns="8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363825" y="3220835"/>
            <a:ext cx="24165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32"/>
              <a:buFont typeface="Calibri"/>
              <a:buNone/>
            </a:pPr>
            <a:r>
              <a:rPr b="1" i="0" lang="en-US" sz="1532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📦  Tuple</a:t>
            </a:r>
            <a:endParaRPr b="0" i="0" sz="15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363825" y="3614801"/>
            <a:ext cx="24165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49"/>
              <a:buFont typeface="Calibri"/>
              <a:buNone/>
            </a:pPr>
            <a:r>
              <a:rPr b="0" i="0" lang="en-US" sz="1149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Ordered, FIXED items</a:t>
            </a:r>
            <a:endParaRPr b="0" i="0" sz="11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49"/>
              <a:buFont typeface="Calibri"/>
              <a:buNone/>
            </a:pPr>
            <a:r>
              <a:rPr b="0" i="0" lang="en-US" sz="1149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(like GPS coordinates)</a:t>
            </a:r>
            <a:endParaRPr b="0" i="0" sz="11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060332" y="3133287"/>
            <a:ext cx="2626500" cy="1575900"/>
          </a:xfrm>
          <a:prstGeom prst="rect">
            <a:avLst/>
          </a:prstGeom>
          <a:solidFill>
            <a:srgbClr val="1E293B"/>
          </a:solidFill>
          <a:ln cap="flat" cmpd="sng" w="182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525" lIns="87525" spcFirstLastPara="1" rIns="87525" wrap="square" tIns="8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6165391" y="3220835"/>
            <a:ext cx="24165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532"/>
              <a:buFont typeface="Calibri"/>
              <a:buNone/>
            </a:pPr>
            <a:r>
              <a:rPr b="1" i="0" lang="en-US" sz="1532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📖  Dictionary</a:t>
            </a:r>
            <a:endParaRPr b="0" i="0" sz="15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165391" y="3614801"/>
            <a:ext cx="24165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49"/>
              <a:buFont typeface="Calibri"/>
              <a:buNone/>
            </a:pPr>
            <a:r>
              <a:rPr b="0" i="0" lang="en-US" sz="1149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Key → Value pairs</a:t>
            </a:r>
            <a:endParaRPr b="0" i="0" sz="11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49"/>
              <a:buFont typeface="Calibri"/>
              <a:buNone/>
            </a:pPr>
            <a:r>
              <a:rPr b="0" i="0" lang="en-US" sz="1149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(like a real dictionary)</a:t>
            </a:r>
            <a:endParaRPr b="0" i="0" sz="11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6.1  Lists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1148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Creating and Accessing Lists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11480" y="1188720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list stores multiple values in [ ] separated by commas. Each item has an index starting at 0.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143000" y="1691640"/>
            <a:ext cx="1051560" cy="50292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1143000" y="169164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'Code'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143000" y="22402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143000" y="25146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-7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194560" y="1691640"/>
            <a:ext cx="1051560" cy="502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2194560" y="169164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'Favtutor'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2194560" y="22402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194560" y="25146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-6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246120" y="1691640"/>
            <a:ext cx="1051560" cy="502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246120" y="169164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'Machine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Learning'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246120" y="22402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246120" y="25146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-5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297680" y="1691640"/>
            <a:ext cx="1051560" cy="502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4297680" y="169164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'Students'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297680" y="22402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297680" y="25146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349240" y="1691640"/>
            <a:ext cx="1051560" cy="502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349240" y="169164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'Studies'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349240" y="22402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349240" y="25146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400800" y="1691640"/>
            <a:ext cx="1051560" cy="502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400800" y="169164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'Java'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400800" y="22402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400800" y="25146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452360" y="1691640"/>
            <a:ext cx="1051560" cy="502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7452360" y="169164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'python'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452360" y="224028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452360" y="2514600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11480" y="224028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Index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11480" y="251460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Neg. 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11480" y="2880360"/>
            <a:ext cx="5029200" cy="13716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548640" y="2971800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fruits = ["apple", "banana", "cherry"]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print(fruits[0])   # apple  (first item)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print(fruits[2])   # cherry (third item)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print(fruits[-1])  # cherry (last item)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577840" y="2880360"/>
            <a:ext cx="3154680" cy="1371600"/>
          </a:xfrm>
          <a:prstGeom prst="rect">
            <a:avLst/>
          </a:prstGeom>
          <a:solidFill>
            <a:srgbClr val="1E1B4B"/>
          </a:solidFill>
          <a:ln cap="flat" cmpd="sng" w="1905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5669280" y="297180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💡 Key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669280" y="333756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Index starts at </a:t>
            </a: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(not 1!)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Negative index counts from the 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Max index = length - 1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Lists are Mutable  🔄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1148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You can change, add, or remove items after creation.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11480" y="1234440"/>
            <a:ext cx="2743200" cy="141732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411480" y="1234440"/>
            <a:ext cx="2743200" cy="329184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11480" y="123444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Change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02920" y="1600200"/>
            <a:ext cx="2560320" cy="4114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40080" y="16916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fruits[1] = "orange"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02920" y="207568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Replace item at index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3337560" y="1234440"/>
            <a:ext cx="2743200" cy="141732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3337560" y="1234440"/>
            <a:ext cx="2743200" cy="32918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3337560" y="123444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Add (end)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3429000" y="1600200"/>
            <a:ext cx="2560320" cy="4114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3566160" y="16916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fruits.append("mango")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429000" y="207568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Add item to the 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263640" y="1234440"/>
            <a:ext cx="2743200" cy="141732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6263640" y="1234440"/>
            <a:ext cx="2743200" cy="329184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6263640" y="123444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Insert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355080" y="1600200"/>
            <a:ext cx="2560320" cy="4114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6492240" y="169164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fruits.insert(1, "grape")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355080" y="207568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Add at a specific index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11480" y="2880360"/>
            <a:ext cx="2743200" cy="141732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11480" y="2880360"/>
            <a:ext cx="2743200" cy="32918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411480" y="288036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Remove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02920" y="3246120"/>
            <a:ext cx="2560320" cy="4114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40080" y="33375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fruits.remove("apple")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02920" y="372160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Remove by 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3337560" y="2880360"/>
            <a:ext cx="2743200" cy="141732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3337560" y="2880360"/>
            <a:ext cx="2743200" cy="32918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3337560" y="2880360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3429000" y="3246120"/>
            <a:ext cx="2560320" cy="4114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3566160" y="33375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del fruits[0]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429000" y="372160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Remove by index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263640" y="2880360"/>
            <a:ext cx="2468880" cy="14173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355080" y="29718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🔁 Loop Through: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355080" y="3291840"/>
            <a:ext cx="2286000" cy="6858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492240" y="338328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for fruit in fruits: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print(fruit)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355080" y="40233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Prints each item one by 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Built-in Functions &amp; Slicing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11480" y="1005840"/>
            <a:ext cx="2011680" cy="118872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11480" y="1078992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len()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02920" y="14904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Number of items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02920" y="1783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len([4,7,2,9,5]) → 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2606040" y="1005840"/>
            <a:ext cx="2011680" cy="118872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2606040" y="1078992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max()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2697480" y="14904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Largest 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697480" y="1783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max([4,7,2,9,5]) → 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800600" y="1005840"/>
            <a:ext cx="2011680" cy="118872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800600" y="1078992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min()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892040" y="14904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Smallest value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892040" y="1783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min([4,7,2,9,5]) →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995160" y="1005840"/>
            <a:ext cx="2011680" cy="118872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6995160" y="1078992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sum()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7086600" y="149047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of all values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086600" y="1783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0EA5E9"/>
                </a:solidFill>
                <a:latin typeface="Consolas"/>
                <a:ea typeface="Consolas"/>
                <a:cs typeface="Consolas"/>
                <a:sym typeface="Consolas"/>
              </a:rPr>
              <a:t>sum([4,7,2,9,5]) → 27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11480" y="23774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✂️  List Slicing   list[start:stop]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11480" y="272491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Extract a portion of a list. start is included, stop is excluded.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11480" y="3090672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521208" y="314553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Basic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521208" y="341985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nums[1:4]   → [7, 2, 9]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691640" y="314553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 index 1 up to (not including)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800600" y="3090672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910328" y="314553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From Start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910328" y="341985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nums[:3]    → [4, 7, 2]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080760" y="314553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 beginning to index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11480" y="3959352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521208" y="40142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To 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21208" y="428853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nums[2:]    → [2, 9, 5]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691640" y="401421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 index 2 to the 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800600" y="3959352"/>
            <a:ext cx="4206240" cy="74980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4910328" y="401421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910328" y="428853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nums[-4:-1] → [7, 2, 9]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080760" y="401421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Count from the end of the list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6.2  Tuples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1148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Like a list — but permanently locked 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11475" y="1188724"/>
            <a:ext cx="3931800" cy="146310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411480" y="1188720"/>
            <a:ext cx="3931920" cy="36576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502920" y="11887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 List  [ 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02925" y="1627627"/>
            <a:ext cx="3749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✅ Can change items</a:t>
            </a:r>
            <a:br>
              <a:rPr b="0" i="0" lang="en-US" sz="12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✅ Can add/remove items</a:t>
            </a:r>
            <a:br>
              <a:rPr b="0" i="0" lang="en-US" sz="12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✅ Flexible &amp; editable</a:t>
            </a:r>
            <a:br>
              <a:rPr b="0" i="0" lang="en-US" sz="12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Uses square brackets [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800600" y="1188724"/>
            <a:ext cx="3931800" cy="146310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4800600" y="1188720"/>
            <a:ext cx="3931920" cy="3657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4892040" y="11887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📦 Tuple  ( 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892050" y="1627627"/>
            <a:ext cx="3749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❌ Cannot change items</a:t>
            </a:r>
            <a:br>
              <a:rPr b="0" i="0" lang="en-US" sz="12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❌ Cannot add/remove items</a:t>
            </a:r>
            <a:br>
              <a:rPr b="0" i="0" lang="en-US" sz="12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✅ Safe &amp; reliable data</a:t>
            </a:r>
            <a:br>
              <a:rPr b="0" i="0" lang="en-US" sz="1200" u="none" cap="none" strike="noStrike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Uses parentheses ( 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11525" y="3017600"/>
            <a:ext cx="4023300" cy="18006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502850" y="3135498"/>
            <a:ext cx="3749100" cy="15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Creating a tuple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info = ("Alice", 25, "Engineer")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Accessing (same as list)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print(info[0])       # Alice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print(len(info))     #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Looping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for item in info: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0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print(item)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800600" y="3017601"/>
            <a:ext cx="3931800" cy="180060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4892052" y="3072378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📦 Packing &amp; Unpacking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930550" y="3392475"/>
            <a:ext cx="3749100" cy="12441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5029288" y="3431415"/>
            <a:ext cx="3474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Pack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person = ("Bob", 30, "Doctor")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Unpack into variables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name, age, job = person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print(name)   # Bob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print(age)    # 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1148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6.3  Dictionaries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1148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Store data as  Key → Value  pairs  (like a real dictionary!)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11480" y="114300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🔑 The KEY is the label  •  📄 The VALUE is the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57200" y="1508760"/>
            <a:ext cx="1463040" cy="50292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457200" y="150876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"name"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1993392" y="1508760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2423160" y="1508760"/>
            <a:ext cx="1463040" cy="502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2423160" y="1508760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"Alice"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57200" y="2167128"/>
            <a:ext cx="1463040" cy="50292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457200" y="21671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"age"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1993392" y="2167128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2423160" y="2167128"/>
            <a:ext cx="1463040" cy="502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2423160" y="216712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57200" y="2825496"/>
            <a:ext cx="1463040" cy="502920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457200" y="282549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"grade"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993392" y="2825496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2423160" y="2825496"/>
            <a:ext cx="1463040" cy="5029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2423160" y="2825496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79875" y="1463100"/>
            <a:ext cx="3594300" cy="2057400"/>
          </a:xfrm>
          <a:prstGeom prst="rect">
            <a:avLst/>
          </a:prstGeom>
          <a:noFill/>
          <a:ln cap="flat" cmpd="sng" w="190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502920" y="35204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student = { 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114800" y="1234440"/>
            <a:ext cx="4663440" cy="173736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4251960" y="1325880"/>
            <a:ext cx="43891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Two ways to access values: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student["name"]        # "Alice"  ← direct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student.get("grade")   # "A"      ← safe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.get() returns None if key missing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# direct [ ] raises KeyError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114800" y="3108950"/>
            <a:ext cx="4663500" cy="17373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4206240" y="318211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Modify &amp; Loop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206250" y="3492999"/>
            <a:ext cx="4480500" cy="11715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4343400" y="3584448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student["age"] = 23           # Update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student["email"] = "a@b.com"  # Add new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del student["grade"]          # Delete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for key, value in student.items():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7DD3FC"/>
                </a:solidFill>
                <a:latin typeface="Consolas"/>
                <a:ea typeface="Consolas"/>
                <a:cs typeface="Consolas"/>
                <a:sym typeface="Consolas"/>
              </a:rPr>
              <a:t>    print(f"{key} → {value}")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Comparison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457200" y="914400"/>
            <a:ext cx="1371600" cy="411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457200" y="914400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828800" y="914400"/>
            <a:ext cx="2286000" cy="411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1828800" y="9144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List [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114800" y="914400"/>
            <a:ext cx="2286000" cy="411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4114800" y="91440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Tuple ( 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400800" y="914400"/>
            <a:ext cx="2743200" cy="411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6400800" y="9144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Dictionary {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57200" y="1371600"/>
            <a:ext cx="137160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530352" y="1371600"/>
            <a:ext cx="12252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Ordered?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828800" y="1371600"/>
            <a:ext cx="228600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1901952" y="1371600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114800" y="1371600"/>
            <a:ext cx="228600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4187952" y="1371600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✅ Yes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6400800" y="1371600"/>
            <a:ext cx="274320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6473952" y="1371600"/>
            <a:ext cx="2596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57200" y="1984248"/>
            <a:ext cx="1371600" cy="5486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530352" y="1984248"/>
            <a:ext cx="12252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Changeable?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1828800" y="1984248"/>
            <a:ext cx="2286000" cy="5486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1901952" y="1984248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114800" y="1984248"/>
            <a:ext cx="2286000" cy="5486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4187952" y="1984248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❌ 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400800" y="1984248"/>
            <a:ext cx="2743200" cy="5486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6473952" y="1984248"/>
            <a:ext cx="2596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457200" y="2596896"/>
            <a:ext cx="137160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530352" y="2596896"/>
            <a:ext cx="12252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828800" y="2596896"/>
            <a:ext cx="228600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1901952" y="2596896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114800" y="2596896"/>
            <a:ext cx="228600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4187952" y="2596896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 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6400800" y="2596896"/>
            <a:ext cx="274320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6473952" y="2596896"/>
            <a:ext cx="2596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 key: val 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57200" y="3209544"/>
            <a:ext cx="1371600" cy="5486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530352" y="3209544"/>
            <a:ext cx="12252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 case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1828800" y="3209544"/>
            <a:ext cx="2286000" cy="5486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1901952" y="3209544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Shopping list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4114800" y="3209544"/>
            <a:ext cx="2286000" cy="5486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4187952" y="3209544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GPS coords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400800" y="3209544"/>
            <a:ext cx="2743200" cy="5486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6473952" y="3209544"/>
            <a:ext cx="2596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 info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57200" y="3822192"/>
            <a:ext cx="137160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530352" y="3822192"/>
            <a:ext cx="12252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Duplicate OK?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1828800" y="3822192"/>
            <a:ext cx="228600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1901952" y="3822192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Yes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4114800" y="3822192"/>
            <a:ext cx="228600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4187952" y="3822192"/>
            <a:ext cx="21396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✅ Yes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6400800" y="3822192"/>
            <a:ext cx="2743200" cy="5486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6473952" y="3822192"/>
            <a:ext cx="259689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Keys: ❌ 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💡 Choose List for flexible ordered data, Tuple for fixed data, Dictionary for labeled data.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🏋️  Practice Exercises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11480" y="1143000"/>
            <a:ext cx="2743200" cy="155448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502920" y="1252728"/>
            <a:ext cx="411480" cy="411480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502920" y="12527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1005840" y="125272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List Total &amp; Average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48640" y="17373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Make a list of 10 numbers. Calculate and print the total and average using sum() and len().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3337560" y="1143000"/>
            <a:ext cx="2743200" cy="155448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3429000" y="1252728"/>
            <a:ext cx="411480" cy="41148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3429000" y="12527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3931920" y="125272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Tuple Practice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474720" y="17373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Make a tuple of your 5 favorite hobbies. Print the first and third hobbies.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6263640" y="1143000"/>
            <a:ext cx="2743200" cy="155448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6355080" y="1252728"/>
            <a:ext cx="411480" cy="411480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6355080" y="12527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858000" y="125272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Student Dictionary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6400800" y="17373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Create a dictionary with keys: name, id, marks. Add key "result" = "Pass" if marks ≥ 40, else "Fail".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11480" y="2971800"/>
            <a:ext cx="2743200" cy="155448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502920" y="3081528"/>
            <a:ext cx="411480" cy="41148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502920" y="30815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1005840" y="3081528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List Slicing Practice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548640" y="356616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Create a list of 7 numbers and print the last 3 using slicing.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3337551" y="2971800"/>
            <a:ext cx="2783400" cy="1554600"/>
          </a:xfrm>
          <a:prstGeom prst="rect">
            <a:avLst/>
          </a:prstGeom>
          <a:solidFill>
            <a:srgbClr val="1E293B"/>
          </a:solidFill>
          <a:ln cap="flat" cmpd="sng" w="190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3429000" y="3081528"/>
            <a:ext cx="411480" cy="411480"/>
          </a:xfrm>
          <a:prstGeom prst="ellipse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3429000" y="308152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3931924" y="3081525"/>
            <a:ext cx="2054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Two Students in a Dict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3474724" y="356615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Create a dictionary with two students. Each student should have name, id, and department. Print all using loops.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E3A5F">
              <a:alpha val="50196"/>
            </a:srgbClr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65F46">
              <a:alpha val="40000"/>
            </a:srgbClr>
          </a:solidFill>
          <a:ln cap="flat" cmpd="sng" w="12700">
            <a:solidFill>
              <a:srgbClr val="065F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rPr b="0" i="0" lang="en-US" sz="5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🎉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You're Ready to Use Collections!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1005840" y="2286000"/>
            <a:ext cx="2377440" cy="137160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1005840" y="23774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📋  List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1005840" y="28803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Ordered + Changeable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3657600" y="2286000"/>
            <a:ext cx="2377440" cy="137160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3657600" y="23774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📦  Tuple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3657600" y="28803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Ordered + Fixed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6309360" y="2286000"/>
            <a:ext cx="2377440" cy="1371600"/>
          </a:xfrm>
          <a:prstGeom prst="rect">
            <a:avLst/>
          </a:prstGeom>
          <a:solidFill>
            <a:srgbClr val="1E293B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6309360" y="23774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📖  Dictionary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6309360" y="28803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Key → Value pairs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Keep coding and practicing — every expert was once a beginner! 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Favtutor · CodeStudents · Python Basics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