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Cambria Math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font" Target="fonts/CambriaMath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688275" y="3671128"/>
            <a:ext cx="2743200" cy="2743200"/>
          </a:xfrm>
          <a:prstGeom prst="ellipse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488177"/>
            <a:ext cx="1280100" cy="2742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488177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Chapter 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67553" y="754716"/>
            <a:ext cx="2607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67553" y="1581975"/>
            <a:ext cx="4659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String Operations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826429" y="1020678"/>
            <a:ext cx="1097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lang="en-US" sz="4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🐍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457200" y="3339895"/>
            <a:ext cx="44001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Presented by:</a:t>
            </a:r>
            <a:endParaRPr b="1" sz="1800">
              <a:solidFill>
                <a:schemeClr val="lt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Md Mostafizur Rahaman</a:t>
            </a:r>
            <a:endParaRPr b="1" sz="1800">
              <a:solidFill>
                <a:schemeClr val="lt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mbria Math"/>
                <a:ea typeface="Cambria Math"/>
                <a:cs typeface="Cambria Math"/>
                <a:sym typeface="Cambria Math"/>
              </a:rPr>
              <a:t>MSc Student at IIT</a:t>
            </a:r>
            <a:endParaRPr b="1" sz="1800">
              <a:solidFill>
                <a:schemeClr val="lt1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  What is a String?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82880" y="7315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The building block of text in Python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82880" y="1143000"/>
            <a:ext cx="4114800" cy="105156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82880" y="1143000"/>
            <a:ext cx="4114800" cy="457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20040" y="12344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📝  Definition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20040" y="15544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String is simply a piece of text — words, sentences, or any collection of characters.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82880" y="2331720"/>
            <a:ext cx="4114800" cy="105156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82880" y="2331720"/>
            <a:ext cx="4114800" cy="4572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20040" y="24231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🔒  Immutable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20040" y="27432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Once created, you can't change its original content. Python creates a new string when you modify.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82880" y="3520440"/>
            <a:ext cx="4114800" cy="105156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82880" y="3520440"/>
            <a:ext cx="4114800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20040" y="3611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💬  3 Ways to Create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0040" y="393192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Single quotes ' ', double quotes " ", or triple quotes ''' ''' for multi-line text.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0" y="1143000"/>
            <a:ext cx="4389120" cy="361188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681728" y="1216152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818888" y="1216152"/>
            <a:ext cx="91440" cy="91440"/>
          </a:xfrm>
          <a:prstGeom prst="ellipse">
            <a:avLst/>
          </a:prstGeom>
          <a:solidFill>
            <a:srgbClr val="FEBC2E"/>
          </a:solidFill>
          <a:ln cap="flat" cmpd="sng" w="1270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956048" y="1216152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681728" y="1344168"/>
            <a:ext cx="4206240" cy="3355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s1 = 'Hello'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s2 = "World"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s3 = '''This 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a multi-line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string'''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print(type(s1))   # &lt;class 'str'&gt;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print(s1 + " " + s2)  # Hello World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print(s3)         # Prints as written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7.1.1 &amp; 7.1.2  Length &amp; Whitespace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82880" y="7315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Measuring and cleaning strings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82880" y="10972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📏  String Length — len()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82880" y="14630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The len() function counts every character — letters, spaces, and symbols.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82880" y="1920240"/>
            <a:ext cx="4114800" cy="100584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292608" y="1993392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29768" y="1993392"/>
            <a:ext cx="91440" cy="91440"/>
          </a:xfrm>
          <a:prstGeom prst="ellipse">
            <a:avLst/>
          </a:prstGeom>
          <a:solidFill>
            <a:srgbClr val="FEBC2E"/>
          </a:solidFill>
          <a:ln cap="flat" cmpd="sng" w="1270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66928" y="1993392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292608" y="2121408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text = "Hello World"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print(len(text))  #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H-e-l-l-o-SPACE-W-o-r-l-d =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82880" y="30632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🧹  Whitespace Removal — strip()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82880" y="34290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Removes invisible characters (spaces, tabs \t, newlines \n) from start &amp; end.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82880" y="3840480"/>
            <a:ext cx="4114800" cy="1078992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292608" y="3913632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29768" y="3913632"/>
            <a:ext cx="91440" cy="91440"/>
          </a:xfrm>
          <a:prstGeom prst="ellipse">
            <a:avLst/>
          </a:prstGeom>
          <a:solidFill>
            <a:srgbClr val="FEBC2E"/>
          </a:solidFill>
          <a:ln cap="flat" cmpd="sng" w="1270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566928" y="3913632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292608" y="4041648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word = "  Python  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print(word.strip())   # 'Python'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sentence = "\n Hello World \t"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print(sentence.strip()) # 'Hello World'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0" y="10972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Visual: Each character has an index position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72000" y="1463040"/>
            <a:ext cx="365760" cy="411480"/>
          </a:xfrm>
          <a:prstGeom prst="rect">
            <a:avLst/>
          </a:prstGeom>
          <a:solidFill>
            <a:srgbClr val="1E40AF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4572000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572000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965192" y="1463040"/>
            <a:ext cx="365760" cy="411480"/>
          </a:xfrm>
          <a:prstGeom prst="rect">
            <a:avLst/>
          </a:prstGeom>
          <a:solidFill>
            <a:srgbClr val="1E40AF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965192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965192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358384" y="1463040"/>
            <a:ext cx="365760" cy="411480"/>
          </a:xfrm>
          <a:prstGeom prst="rect">
            <a:avLst/>
          </a:prstGeom>
          <a:solidFill>
            <a:srgbClr val="1E40AF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5358384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358384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751576" y="1463040"/>
            <a:ext cx="365760" cy="411480"/>
          </a:xfrm>
          <a:prstGeom prst="rect">
            <a:avLst/>
          </a:prstGeom>
          <a:solidFill>
            <a:srgbClr val="1E40AF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5751576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5751576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144768" y="1463040"/>
            <a:ext cx="365760" cy="411480"/>
          </a:xfrm>
          <a:prstGeom prst="rect">
            <a:avLst/>
          </a:prstGeom>
          <a:solidFill>
            <a:srgbClr val="1E40AF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144768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144768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537960" y="1463040"/>
            <a:ext cx="365760" cy="411480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537960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537960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931152" y="1463040"/>
            <a:ext cx="365760" cy="411480"/>
          </a:xfrm>
          <a:prstGeom prst="rect">
            <a:avLst/>
          </a:prstGeom>
          <a:solidFill>
            <a:srgbClr val="1E40AF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931152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931152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324344" y="1463040"/>
            <a:ext cx="365760" cy="411480"/>
          </a:xfrm>
          <a:prstGeom prst="rect">
            <a:avLst/>
          </a:prstGeom>
          <a:solidFill>
            <a:srgbClr val="1E40AF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7324344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7324344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717536" y="1463040"/>
            <a:ext cx="365760" cy="411480"/>
          </a:xfrm>
          <a:prstGeom prst="rect">
            <a:avLst/>
          </a:prstGeom>
          <a:solidFill>
            <a:srgbClr val="1E40AF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7717536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717536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8110728" y="1463040"/>
            <a:ext cx="365760" cy="411480"/>
          </a:xfrm>
          <a:prstGeom prst="rect">
            <a:avLst/>
          </a:prstGeom>
          <a:solidFill>
            <a:srgbClr val="1E40AF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8110728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110728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503920" y="1463040"/>
            <a:ext cx="365760" cy="411480"/>
          </a:xfrm>
          <a:prstGeom prst="rect">
            <a:avLst/>
          </a:prstGeom>
          <a:solidFill>
            <a:srgbClr val="1E40AF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8503920" y="1463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503920" y="1901952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572000" y="21488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Index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572000" y="2514600"/>
            <a:ext cx="4389120" cy="242316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572000" y="2514600"/>
            <a:ext cx="4389120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709160" y="26060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🧹 How strip() works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709160" y="29718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Before: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852160" y="29718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"  Python  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709160" y="34290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strip():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852160" y="34290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"Python"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709160" y="38862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lstrip():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852160" y="38862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"Python  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709160" y="43434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rstrip():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852160" y="43434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"  Python"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7.1.3 &amp; 7.1.4  Replace &amp; Formatting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82880" y="7315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Modifying and inserting variables into strings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82880" y="109728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🔁  String Replacement — .replace()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82880" y="144475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Finds ALL occurrences of a word and replaces them with another.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82880" y="1810512"/>
            <a:ext cx="4297680" cy="146304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292608" y="1883664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29768" y="1883664"/>
            <a:ext cx="91440" cy="91440"/>
          </a:xfrm>
          <a:prstGeom prst="ellipse">
            <a:avLst/>
          </a:prstGeom>
          <a:solidFill>
            <a:srgbClr val="FEBC2E"/>
          </a:solidFill>
          <a:ln cap="flat" cmpd="sng" w="1270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66928" y="1883664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292608" y="2011680"/>
            <a:ext cx="4114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text = "Hello World"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new_text = text.replace("World", "Python")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print(new_text)  # Hello 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Original stays unchanged (immutable!)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print(text)      # Still "Hello World"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82880" y="338328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✨  f-Strings (String Formatting)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82880" y="3633296"/>
            <a:ext cx="4297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Put an f before quotes, then use {} to insert variables — neat and readable!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82875" y="4022901"/>
            <a:ext cx="4297800" cy="10053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292603" y="4103325"/>
            <a:ext cx="91500" cy="10050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429763" y="4103325"/>
            <a:ext cx="91500" cy="100500"/>
          </a:xfrm>
          <a:prstGeom prst="ellipse">
            <a:avLst/>
          </a:prstGeom>
          <a:solidFill>
            <a:srgbClr val="FEBC2E"/>
          </a:solidFill>
          <a:ln cap="flat" cmpd="sng" w="1270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566923" y="4103325"/>
            <a:ext cx="91500" cy="10050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301753" y="4224525"/>
            <a:ext cx="4114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name = "Alice"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age = 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print(f"My name is {name} and I am {age} years old.")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Output: My name is Alice and I am 25 years old.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663440" y="1097280"/>
            <a:ext cx="4297680" cy="201168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4663440" y="1097280"/>
            <a:ext cx="4297680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4800600" y="11887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replace() — Before &amp; After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800600" y="15544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Before: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943600" y="155448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"Hello World"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6"/>
          <p:cNvCxnSpPr/>
          <p:nvPr/>
        </p:nvCxnSpPr>
        <p:spPr>
          <a:xfrm>
            <a:off x="4800600" y="1965960"/>
            <a:ext cx="3931920" cy="0"/>
          </a:xfrm>
          <a:prstGeom prst="straightConnector1">
            <a:avLst/>
          </a:prstGeom>
          <a:noFill/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6"/>
          <p:cNvSpPr/>
          <p:nvPr/>
        </p:nvSpPr>
        <p:spPr>
          <a:xfrm>
            <a:off x="4800600" y="205740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After: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943600" y="20574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"Hello Python"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663440" y="3246120"/>
            <a:ext cx="4297680" cy="173736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4663440" y="3246120"/>
            <a:ext cx="4297680" cy="457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800600" y="33375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f-String Magic 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800600" y="370332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f"My name is </a:t>
            </a:r>
            <a:r>
              <a:rPr b="1" i="0" lang="en-US" sz="13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{name}</a:t>
            </a:r>
            <a:r>
              <a:rPr b="0" i="0" lang="en-US" sz="1300" u="none" cap="none" strike="noStrike">
                <a:solidFill>
                  <a:srgbClr val="CBD5E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800600" y="411480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{} gets replaced with the variable's value!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7.1.5 &amp; 7.1.6  Concatenation &amp; Repetition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82880" y="7315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Joining and repeating strings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82880" y="1097280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➕  Concatenation — Joining Strings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82880" y="1463040"/>
            <a:ext cx="4297680" cy="210312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292608" y="1536192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29768" y="1536192"/>
            <a:ext cx="91440" cy="91440"/>
          </a:xfrm>
          <a:prstGeom prst="ellipse">
            <a:avLst/>
          </a:prstGeom>
          <a:solidFill>
            <a:srgbClr val="FEBC2E"/>
          </a:solidFill>
          <a:ln cap="flat" cmpd="sng" w="1270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566928" y="1536192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292608" y="1664208"/>
            <a:ext cx="4114800" cy="1847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first_name = "John"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last_name = "Doe"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full_name = first_name + " " + last_name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print(full_name)  # John Doe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Cannot concatenate str + int directly!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 = "Age: 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n = 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print(s + str(n))  # Age: 30  ✓ (convert first)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210330" y="3616445"/>
            <a:ext cx="4297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✖️  Repetition — Repeat with *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82875" y="3943750"/>
            <a:ext cx="4297800" cy="10398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292608" y="4016903"/>
            <a:ext cx="91500" cy="9150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29768" y="4016903"/>
            <a:ext cx="91500" cy="91500"/>
          </a:xfrm>
          <a:prstGeom prst="ellipse">
            <a:avLst/>
          </a:prstGeom>
          <a:solidFill>
            <a:srgbClr val="FEBC2E"/>
          </a:solidFill>
          <a:ln cap="flat" cmpd="sng" w="1270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566928" y="4016903"/>
            <a:ext cx="91500" cy="9150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292608" y="4144919"/>
            <a:ext cx="4114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greet = "Hi"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print(greet * 3)       # HiHiHi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separator = "-" * 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print(separator)       # --------------------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663440" y="1097280"/>
            <a:ext cx="4297680" cy="210312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663440" y="1097280"/>
            <a:ext cx="4297680" cy="4572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800600" y="11887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🔗 How Concatenation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800600" y="1572768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"John"  +  " "  +  "Doe"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800600" y="20116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800600" y="2286000"/>
            <a:ext cx="4023360" cy="411480"/>
          </a:xfrm>
          <a:prstGeom prst="rect">
            <a:avLst/>
          </a:prstGeom>
          <a:solidFill>
            <a:srgbClr val="1E40AF"/>
          </a:solidFill>
          <a:ln cap="flat" cmpd="sng" w="254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800600" y="228600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"John Doe"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663440" y="3337560"/>
            <a:ext cx="4297680" cy="164592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4663440" y="3337560"/>
            <a:ext cx="4297680" cy="4572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4800600" y="342900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✖ Repetition Magic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4800600" y="37947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"Hi" * 3  →  "HiHiHi"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800600" y="416052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"-" * 20  →  "--------------------"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800600" y="45262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Great for dividers and patterns!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182877" y="182875"/>
            <a:ext cx="476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7.1.7 &amp; 7.1.9  Indexing &amp; Slicing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182878" y="731525"/>
            <a:ext cx="305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Accessing specific characters and portions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28603" y="1025350"/>
            <a:ext cx="297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Think of a string as a row of labeled boxes: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978666" y="1382305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7"/>
              <a:buFont typeface="Consolas"/>
              <a:buNone/>
            </a:pPr>
            <a:r>
              <a:rPr b="1" i="0" lang="en-US" sz="957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978666" y="1621044"/>
            <a:ext cx="795900" cy="517200"/>
          </a:xfrm>
          <a:prstGeom prst="rect">
            <a:avLst/>
          </a:prstGeom>
          <a:solidFill>
            <a:srgbClr val="1E40AF"/>
          </a:solidFill>
          <a:ln cap="flat" cmpd="sng" w="221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575" lIns="79575" spcFirstLastPara="1" rIns="79575" wrap="square" tIns="7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978666" y="1621044"/>
            <a:ext cx="795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63"/>
              <a:buFont typeface="Consolas"/>
              <a:buNone/>
            </a:pPr>
            <a:r>
              <a:rPr b="1" i="0" lang="en-US" sz="2263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endParaRPr b="0" i="0" sz="22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978666" y="2162186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7"/>
              <a:buFont typeface="Consolas"/>
              <a:buNone/>
            </a:pPr>
            <a:r>
              <a:rPr b="1" i="0" lang="en-US" sz="957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-6</a:t>
            </a:r>
            <a:endParaRPr b="0" i="0" sz="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1973405" y="1382305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7"/>
              <a:buFont typeface="Consolas"/>
              <a:buNone/>
            </a:pPr>
            <a:r>
              <a:rPr b="1" i="0" lang="en-US" sz="957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973405" y="1621044"/>
            <a:ext cx="795900" cy="517200"/>
          </a:xfrm>
          <a:prstGeom prst="rect">
            <a:avLst/>
          </a:prstGeom>
          <a:solidFill>
            <a:srgbClr val="1E40AF"/>
          </a:solidFill>
          <a:ln cap="flat" cmpd="sng" w="221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575" lIns="79575" spcFirstLastPara="1" rIns="79575" wrap="square" tIns="7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973405" y="1621044"/>
            <a:ext cx="795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63"/>
              <a:buFont typeface="Consolas"/>
              <a:buNone/>
            </a:pPr>
            <a:r>
              <a:rPr b="1" i="0" lang="en-US" sz="2263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b="0" i="0" sz="22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973405" y="2162186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7"/>
              <a:buFont typeface="Consolas"/>
              <a:buNone/>
            </a:pPr>
            <a:r>
              <a:rPr b="1" i="0" lang="en-US" sz="957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-5</a:t>
            </a:r>
            <a:endParaRPr b="0" i="0" sz="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2968144" y="1382305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7"/>
              <a:buFont typeface="Consolas"/>
              <a:buNone/>
            </a:pPr>
            <a:r>
              <a:rPr b="1" i="0" lang="en-US" sz="957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968144" y="1621044"/>
            <a:ext cx="795900" cy="517200"/>
          </a:xfrm>
          <a:prstGeom prst="rect">
            <a:avLst/>
          </a:prstGeom>
          <a:solidFill>
            <a:srgbClr val="1E40AF"/>
          </a:solidFill>
          <a:ln cap="flat" cmpd="sng" w="221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575" lIns="79575" spcFirstLastPara="1" rIns="79575" wrap="square" tIns="7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2968144" y="1621044"/>
            <a:ext cx="795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63"/>
              <a:buFont typeface="Consolas"/>
              <a:buNone/>
            </a:pPr>
            <a:r>
              <a:rPr b="1" i="0" lang="en-US" sz="2263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22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968144" y="2162186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7"/>
              <a:buFont typeface="Consolas"/>
              <a:buNone/>
            </a:pPr>
            <a:r>
              <a:rPr b="1" i="0" lang="en-US" sz="957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-4</a:t>
            </a:r>
            <a:endParaRPr b="0" i="0" sz="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3962884" y="1362485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7"/>
              <a:buFont typeface="Consolas"/>
              <a:buNone/>
            </a:pPr>
            <a:r>
              <a:rPr b="1" i="0" lang="en-US" sz="957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962884" y="1647990"/>
            <a:ext cx="795900" cy="517200"/>
          </a:xfrm>
          <a:prstGeom prst="rect">
            <a:avLst/>
          </a:prstGeom>
          <a:solidFill>
            <a:srgbClr val="1E40AF"/>
          </a:solidFill>
          <a:ln cap="flat" cmpd="sng" w="221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575" lIns="79575" spcFirstLastPara="1" rIns="79575" wrap="square" tIns="7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8"/>
          </a:p>
        </p:txBody>
      </p:sp>
      <p:sp>
        <p:nvSpPr>
          <p:cNvPr id="208" name="Google Shape;208;p8"/>
          <p:cNvSpPr/>
          <p:nvPr/>
        </p:nvSpPr>
        <p:spPr>
          <a:xfrm>
            <a:off x="3962884" y="1634126"/>
            <a:ext cx="795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63"/>
              <a:buFont typeface="Consolas"/>
              <a:buNone/>
            </a:pPr>
            <a:r>
              <a:rPr b="1" i="0" lang="en-US" sz="2263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 b="0" i="0" sz="22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72829" y="4107226"/>
            <a:ext cx="793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-3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957623" y="1392658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7"/>
              <a:buFont typeface="Consolas"/>
              <a:buNone/>
            </a:pPr>
            <a:r>
              <a:rPr b="1" i="0" lang="en-US" sz="957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957623" y="1657457"/>
            <a:ext cx="795900" cy="517200"/>
          </a:xfrm>
          <a:prstGeom prst="rect">
            <a:avLst/>
          </a:prstGeom>
          <a:solidFill>
            <a:srgbClr val="1E40AF"/>
          </a:solidFill>
          <a:ln cap="flat" cmpd="sng" w="221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575" lIns="79575" spcFirstLastPara="1" rIns="79575" wrap="square" tIns="7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8"/>
          </a:p>
        </p:txBody>
      </p:sp>
      <p:sp>
        <p:nvSpPr>
          <p:cNvPr id="212" name="Google Shape;212;p8"/>
          <p:cNvSpPr/>
          <p:nvPr/>
        </p:nvSpPr>
        <p:spPr>
          <a:xfrm>
            <a:off x="4957623" y="1635925"/>
            <a:ext cx="795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63"/>
              <a:buFont typeface="Consolas"/>
              <a:buNone/>
            </a:pPr>
            <a:r>
              <a:rPr b="1" i="0" lang="en-US" sz="2263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b="0" i="0" sz="22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164478" y="4107226"/>
            <a:ext cx="793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-2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5952362" y="1413364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957"/>
              <a:buFont typeface="Consolas"/>
              <a:buNone/>
            </a:pPr>
            <a:r>
              <a:rPr b="1" i="0" lang="en-US" sz="957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952362" y="1657457"/>
            <a:ext cx="795900" cy="517200"/>
          </a:xfrm>
          <a:prstGeom prst="rect">
            <a:avLst/>
          </a:prstGeom>
          <a:solidFill>
            <a:srgbClr val="1E40AF"/>
          </a:solidFill>
          <a:ln cap="flat" cmpd="sng" w="221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575" lIns="79575" spcFirstLastPara="1" rIns="79575" wrap="square" tIns="7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8"/>
          </a:p>
        </p:txBody>
      </p:sp>
      <p:sp>
        <p:nvSpPr>
          <p:cNvPr id="216" name="Google Shape;216;p8"/>
          <p:cNvSpPr/>
          <p:nvPr/>
        </p:nvSpPr>
        <p:spPr>
          <a:xfrm>
            <a:off x="5952362" y="1657457"/>
            <a:ext cx="795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63"/>
              <a:buFont typeface="Consolas"/>
              <a:buNone/>
            </a:pPr>
            <a:r>
              <a:rPr b="1" i="0" lang="en-US" sz="2263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b="0" i="0" sz="22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2156128" y="4107226"/>
            <a:ext cx="7932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-1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82875" y="1621044"/>
            <a:ext cx="7560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783"/>
              <a:buFont typeface="Calibri"/>
              <a:buNone/>
            </a:pPr>
            <a:r>
              <a:rPr b="0" i="0" lang="en-US" sz="783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Forward →</a:t>
            </a:r>
            <a:endParaRPr b="0" i="0" sz="7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82875" y="2162186"/>
            <a:ext cx="7560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783"/>
              <a:buFont typeface="Calibri"/>
              <a:buNone/>
            </a:pPr>
            <a:r>
              <a:rPr b="0" i="0" lang="en-US" sz="783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← Backward</a:t>
            </a:r>
            <a:endParaRPr b="0" i="0" sz="7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64575" y="2407974"/>
            <a:ext cx="3192000" cy="1206900"/>
          </a:xfrm>
          <a:prstGeom prst="rect">
            <a:avLst/>
          </a:prstGeom>
          <a:solidFill>
            <a:srgbClr val="0D1117"/>
          </a:solidFill>
          <a:ln cap="flat" cmpd="sng" w="1365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9187" rotWithShape="0" algn="bl" dir="8100000" dist="27297">
              <a:srgbClr val="000000">
                <a:alpha val="40000"/>
              </a:srgbClr>
            </a:outerShdw>
          </a:effectLst>
        </p:spPr>
        <p:txBody>
          <a:bodyPr anchorCtr="0" anchor="ctr" bIns="98250" lIns="98250" spcFirstLastPara="1" rIns="98250" wrap="square" tIns="9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5"/>
          </a:p>
        </p:txBody>
      </p:sp>
      <p:sp>
        <p:nvSpPr>
          <p:cNvPr id="221" name="Google Shape;221;p8"/>
          <p:cNvSpPr/>
          <p:nvPr/>
        </p:nvSpPr>
        <p:spPr>
          <a:xfrm>
            <a:off x="282502" y="2486606"/>
            <a:ext cx="98400" cy="98400"/>
          </a:xfrm>
          <a:prstGeom prst="ellipse">
            <a:avLst/>
          </a:prstGeom>
          <a:solidFill>
            <a:srgbClr val="FF5F57"/>
          </a:solidFill>
          <a:ln cap="flat" cmpd="sng" w="1365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50" lIns="98250" spcFirstLastPara="1" rIns="98250" wrap="square" tIns="9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429905" y="2486606"/>
            <a:ext cx="98400" cy="98400"/>
          </a:xfrm>
          <a:prstGeom prst="ellipse">
            <a:avLst/>
          </a:prstGeom>
          <a:solidFill>
            <a:srgbClr val="FEBC2E"/>
          </a:solidFill>
          <a:ln cap="flat" cmpd="sng" w="1365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50" lIns="98250" spcFirstLastPara="1" rIns="98250" wrap="square" tIns="9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577308" y="2486606"/>
            <a:ext cx="98400" cy="98400"/>
          </a:xfrm>
          <a:prstGeom prst="ellipse">
            <a:avLst/>
          </a:prstGeom>
          <a:solidFill>
            <a:srgbClr val="28C840"/>
          </a:solidFill>
          <a:ln cap="flat" cmpd="sng" w="1365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250" lIns="98250" spcFirstLastPara="1" rIns="98250" wrap="square" tIns="9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282500" y="2624174"/>
            <a:ext cx="2970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82"/>
              <a:buFont typeface="Consolas"/>
              <a:buNone/>
            </a:pPr>
            <a:r>
              <a:rPr b="0" i="0" lang="en-US" sz="1082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text = "Python"</a:t>
            </a:r>
            <a:endParaRPr b="0" i="0" sz="10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15"/>
              </a:spcBef>
              <a:spcAft>
                <a:spcPts val="0"/>
              </a:spcAft>
              <a:buClr>
                <a:srgbClr val="7EE787"/>
              </a:buClr>
              <a:buSzPts val="1182"/>
              <a:buFont typeface="Consolas"/>
              <a:buNone/>
            </a:pPr>
            <a:r>
              <a:rPr b="0" i="0" lang="en-US" sz="1082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print(text[0])   # P  (first)</a:t>
            </a:r>
            <a:endParaRPr b="0" i="0" sz="10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15"/>
              </a:spcBef>
              <a:spcAft>
                <a:spcPts val="0"/>
              </a:spcAft>
              <a:buClr>
                <a:srgbClr val="7EE787"/>
              </a:buClr>
              <a:buSzPts val="1182"/>
              <a:buFont typeface="Consolas"/>
              <a:buNone/>
            </a:pPr>
            <a:r>
              <a:rPr b="0" i="0" lang="en-US" sz="1082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print(text[3])   # h  (fourth)</a:t>
            </a:r>
            <a:endParaRPr b="0" i="0" sz="10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15"/>
              </a:spcBef>
              <a:spcAft>
                <a:spcPts val="0"/>
              </a:spcAft>
              <a:buClr>
                <a:srgbClr val="7EE787"/>
              </a:buClr>
              <a:buSzPts val="1182"/>
              <a:buFont typeface="Consolas"/>
              <a:buNone/>
            </a:pPr>
            <a:r>
              <a:rPr b="0" i="0" lang="en-US" sz="1082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print(text[-1])  # n  (last)</a:t>
            </a:r>
            <a:endParaRPr b="0" i="0" sz="10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15"/>
              </a:spcBef>
              <a:spcAft>
                <a:spcPts val="0"/>
              </a:spcAft>
              <a:buClr>
                <a:srgbClr val="7EE787"/>
              </a:buClr>
              <a:buSzPts val="1182"/>
              <a:buFont typeface="Consolas"/>
              <a:buNone/>
            </a:pPr>
            <a:r>
              <a:rPr b="0" i="0" lang="en-US" sz="1082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print(text[-3])  # h  (third from end)</a:t>
            </a:r>
            <a:endParaRPr b="0" i="0" sz="10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793541" y="2509929"/>
            <a:ext cx="275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✂️  Slicing — text[start:end]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088631" y="2727550"/>
            <a:ext cx="3670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Start is included, end is NOT ("up to but not including")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49187" y="3669124"/>
            <a:ext cx="3807900" cy="12069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307693" y="3751953"/>
            <a:ext cx="79500" cy="8070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26691" y="3751953"/>
            <a:ext cx="79500" cy="80700"/>
          </a:xfrm>
          <a:prstGeom prst="ellipse">
            <a:avLst/>
          </a:prstGeom>
          <a:solidFill>
            <a:srgbClr val="FEBC2E"/>
          </a:solidFill>
          <a:ln cap="flat" cmpd="sng" w="1270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545689" y="3751953"/>
            <a:ext cx="79500" cy="8070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307695" y="3865000"/>
            <a:ext cx="36492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text = "Python"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print(text[0:3])    # Pyt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print(text[2:])     # thon (to end)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print(text[:4])     # Pyth (from beginning)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print(text[-4:-1])  # tho (negative)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101671" y="3185110"/>
            <a:ext cx="3255000" cy="1206900"/>
          </a:xfrm>
          <a:prstGeom prst="rect">
            <a:avLst/>
          </a:prstGeom>
          <a:solidFill>
            <a:srgbClr val="1E293B"/>
          </a:solidFill>
          <a:ln cap="flat" cmpd="sng" w="188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56509" rotWithShape="0" algn="bl" dir="8100000" dist="18836">
              <a:srgbClr val="000000">
                <a:alpha val="30196"/>
              </a:srgbClr>
            </a:outerShdw>
          </a:effectLst>
        </p:spPr>
        <p:txBody>
          <a:bodyPr anchorCtr="0" anchor="ctr" bIns="67800" lIns="67800" spcFirstLastPara="1" rIns="67800" wrap="square" tIns="6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5101671" y="3185110"/>
            <a:ext cx="3255000" cy="33900"/>
          </a:xfrm>
          <a:prstGeom prst="rect">
            <a:avLst/>
          </a:prstGeom>
          <a:solidFill>
            <a:srgbClr val="F59E0B"/>
          </a:solidFill>
          <a:ln cap="flat" cmpd="sng" w="94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800" lIns="67800" spcFirstLastPara="1" rIns="67800" wrap="square" tIns="6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5203387" y="3252920"/>
            <a:ext cx="30516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90"/>
              <a:buFont typeface="Calibri"/>
              <a:buNone/>
            </a:pPr>
            <a:r>
              <a:rPr b="1" i="0" lang="en-US" sz="89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text[0:3] = ?</a:t>
            </a:r>
            <a:endParaRPr b="0" i="0" sz="8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203387" y="3524162"/>
            <a:ext cx="440700" cy="305100"/>
          </a:xfrm>
          <a:prstGeom prst="rect">
            <a:avLst/>
          </a:prstGeom>
          <a:solidFill>
            <a:srgbClr val="1E40AF"/>
          </a:solidFill>
          <a:ln cap="flat" cmpd="sng" w="188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800" lIns="67800" spcFirstLastPara="1" rIns="67800" wrap="square" tIns="6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5203387" y="3524162"/>
            <a:ext cx="440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7"/>
              <a:buFont typeface="Consolas"/>
              <a:buNone/>
            </a:pPr>
            <a:r>
              <a:rPr b="1" i="0" lang="en-US" sz="1187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endParaRPr b="0" i="0" sz="1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5698406" y="3524162"/>
            <a:ext cx="440700" cy="305100"/>
          </a:xfrm>
          <a:prstGeom prst="rect">
            <a:avLst/>
          </a:prstGeom>
          <a:solidFill>
            <a:srgbClr val="1E40AF"/>
          </a:solidFill>
          <a:ln cap="flat" cmpd="sng" w="188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800" lIns="67800" spcFirstLastPara="1" rIns="67800" wrap="square" tIns="6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5698406" y="3524162"/>
            <a:ext cx="440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7"/>
              <a:buFont typeface="Consolas"/>
              <a:buNone/>
            </a:pPr>
            <a:r>
              <a:rPr b="1" i="0" lang="en-US" sz="1187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b="0" i="0" sz="1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193424" y="3524162"/>
            <a:ext cx="440700" cy="305100"/>
          </a:xfrm>
          <a:prstGeom prst="rect">
            <a:avLst/>
          </a:prstGeom>
          <a:solidFill>
            <a:srgbClr val="1E40AF"/>
          </a:solidFill>
          <a:ln cap="flat" cmpd="sng" w="188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800" lIns="67800" spcFirstLastPara="1" rIns="67800" wrap="square" tIns="6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6193424" y="3524162"/>
            <a:ext cx="440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7"/>
              <a:buFont typeface="Consolas"/>
              <a:buNone/>
            </a:pPr>
            <a:r>
              <a:rPr b="1" i="0" lang="en-US" sz="1187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b="0" i="0" sz="1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6688443" y="3524162"/>
            <a:ext cx="440700" cy="305100"/>
          </a:xfrm>
          <a:prstGeom prst="rect">
            <a:avLst/>
          </a:prstGeom>
          <a:solidFill>
            <a:srgbClr val="1E293B"/>
          </a:solidFill>
          <a:ln cap="flat" cmpd="sng" w="94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800" lIns="67800" spcFirstLastPara="1" rIns="67800" wrap="square" tIns="6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6688443" y="3524162"/>
            <a:ext cx="440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87"/>
              <a:buFont typeface="Consolas"/>
              <a:buNone/>
            </a:pPr>
            <a:r>
              <a:rPr b="1" i="0" lang="en-US" sz="1187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 b="0" i="0" sz="1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7183461" y="3524162"/>
            <a:ext cx="440700" cy="305100"/>
          </a:xfrm>
          <a:prstGeom prst="rect">
            <a:avLst/>
          </a:prstGeom>
          <a:solidFill>
            <a:srgbClr val="1E293B"/>
          </a:solidFill>
          <a:ln cap="flat" cmpd="sng" w="94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800" lIns="67800" spcFirstLastPara="1" rIns="67800" wrap="square" tIns="6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7183461" y="3524162"/>
            <a:ext cx="440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87"/>
              <a:buFont typeface="Consolas"/>
              <a:buNone/>
            </a:pPr>
            <a:r>
              <a:rPr b="1" i="0" lang="en-US" sz="1187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b="0" i="0" sz="1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7678480" y="3524162"/>
            <a:ext cx="440700" cy="305100"/>
          </a:xfrm>
          <a:prstGeom prst="rect">
            <a:avLst/>
          </a:prstGeom>
          <a:solidFill>
            <a:srgbClr val="1E293B"/>
          </a:solidFill>
          <a:ln cap="flat" cmpd="sng" w="94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7800" lIns="67800" spcFirstLastPara="1" rIns="67800" wrap="square" tIns="6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7678480" y="3524162"/>
            <a:ext cx="4407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87"/>
              <a:buFont typeface="Consolas"/>
              <a:buNone/>
            </a:pPr>
            <a:r>
              <a:rPr b="1" i="0" lang="en-US" sz="1187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b="0" i="0" sz="11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203387" y="3897119"/>
            <a:ext cx="3051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64"/>
              <a:buFont typeface="Consolas"/>
              <a:buNone/>
            </a:pPr>
            <a:r>
              <a:rPr b="1" i="0" lang="en-US" sz="964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Result: "Pyt"</a:t>
            </a:r>
            <a:endParaRPr b="0" i="0" sz="9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956902" y="2188375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7"/>
              <a:buFont typeface="Consolas"/>
              <a:buNone/>
            </a:pPr>
            <a:r>
              <a:rPr b="1" i="0" lang="en-US" sz="957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-US" sz="957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5952377" y="2162175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7"/>
              <a:buFont typeface="Consolas"/>
              <a:buNone/>
            </a:pPr>
            <a:r>
              <a:rPr b="1" i="0" lang="en-US" sz="957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-US" sz="957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945652" y="2195450"/>
            <a:ext cx="7959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57"/>
              <a:buFont typeface="Consolas"/>
              <a:buNone/>
            </a:pPr>
            <a:r>
              <a:rPr b="1" i="0" lang="en-US" sz="957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-US" sz="957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5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7.1.11 – 7.1.14  Useful String Methods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82880" y="7315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Finding, counting, changing case &amp; more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82880" y="1097280"/>
            <a:ext cx="4251960" cy="9144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182880" y="1097280"/>
            <a:ext cx="4251960" cy="457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292608" y="11887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.find(sub)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292608" y="144475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text.find("World")  #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292608" y="16916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Returns position, -1 if not found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663440" y="1097280"/>
            <a:ext cx="4251960" cy="9144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4663440" y="1097280"/>
            <a:ext cx="4251960" cy="4572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4773168" y="11887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.count(sub)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773168" y="144475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"banana".count("a") #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773168" y="16916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Counts occurrences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82880" y="2084832"/>
            <a:ext cx="4251960" cy="9144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182880" y="2084832"/>
            <a:ext cx="4251960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292608" y="217627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.lower()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292608" y="243230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"HELLO".lower()  # hello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292608" y="267919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characters lowercase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663440" y="2084832"/>
            <a:ext cx="4251960" cy="9144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4663440" y="2084832"/>
            <a:ext cx="4251960" cy="4572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4773168" y="217627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A78BFA"/>
                </a:solidFill>
                <a:latin typeface="Consolas"/>
                <a:ea typeface="Consolas"/>
                <a:cs typeface="Consolas"/>
                <a:sym typeface="Consolas"/>
              </a:rPr>
              <a:t>.upper()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4773168" y="243230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"hello".upper()  # HELLO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773168" y="267919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characters uppercase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182880" y="3072384"/>
            <a:ext cx="4251960" cy="9144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182880" y="3072384"/>
            <a:ext cx="4251960" cy="4572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292608" y="31638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.title()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292608" y="3419856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"hello world".title() # Hello World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292608" y="3666744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First letter of each word capitalized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4663440" y="3072384"/>
            <a:ext cx="4251960" cy="9144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4663440" y="3072384"/>
            <a:ext cx="4251960" cy="457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4773168" y="31638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.split(sep)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4773168" y="3419856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"a,b,c".split(",")  # ['a','b','c']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4773168" y="3666744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Breaks into a list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182880" y="4059936"/>
            <a:ext cx="4251960" cy="9144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182880" y="4059936"/>
            <a:ext cx="4251960" cy="4572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292608" y="415137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.startswith()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292608" y="440740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"report.csv".startswith("report")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292608" y="4654296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Returns True/False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663440" y="4059936"/>
            <a:ext cx="4251960" cy="9144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4663440" y="4059936"/>
            <a:ext cx="4251960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4773168" y="415137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.endswith()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4773168" y="440740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"file.csv".endswith(".csv")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4773168" y="4654296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Returns True/False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7.1.8  Mutability of Strings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182880" y="7315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Why you can't change a character directly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182880" y="1097280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Strings are IMMUTABLE — you can READ by index, but you CANNOT CHANGE a character.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182880" y="1600200"/>
            <a:ext cx="4114800" cy="18288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182880" y="1600200"/>
            <a:ext cx="4114800" cy="4572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320040" y="16916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❌ Wrong Way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320040" y="2057400"/>
            <a:ext cx="3840480" cy="118872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429768" y="2130552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566928" y="2130552"/>
            <a:ext cx="91440" cy="91440"/>
          </a:xfrm>
          <a:prstGeom prst="ellipse">
            <a:avLst/>
          </a:prstGeom>
          <a:solidFill>
            <a:srgbClr val="FEBC2E"/>
          </a:solidFill>
          <a:ln cap="flat" cmpd="sng" w="1270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704088" y="2130552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429768" y="2258568"/>
            <a:ext cx="36576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 = "Hello"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s[0] = "j"  # ERROR!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TypeError: 'str' object does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not support item assignment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4572000" y="1600200"/>
            <a:ext cx="4389120" cy="18288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4572000" y="1600200"/>
            <a:ext cx="4389120" cy="4572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4709160" y="16916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✅ Correct Way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4709160" y="2057400"/>
            <a:ext cx="4069080" cy="118872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4818888" y="2130552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4956048" y="2130552"/>
            <a:ext cx="91440" cy="91440"/>
          </a:xfrm>
          <a:prstGeom prst="ellipse">
            <a:avLst/>
          </a:prstGeom>
          <a:solidFill>
            <a:srgbClr val="FEBC2E"/>
          </a:solidFill>
          <a:ln cap="flat" cmpd="sng" w="1270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5093208" y="2130552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4818888" y="2258568"/>
            <a:ext cx="3886200" cy="932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 = "Hello"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Build a NEW string instead: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 = "j" + s[1:]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print(s)  # Output: jello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182880" y="3566160"/>
            <a:ext cx="8778240" cy="141732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182880" y="3566160"/>
            <a:ext cx="8778240" cy="457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320040" y="36576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💡 Key Insight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320040" y="4005072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When you do  </a:t>
            </a:r>
            <a:r>
              <a:rPr b="1" i="0" lang="en-US" sz="1200" u="none" cap="none" strike="noStrike">
                <a:solidFill>
                  <a:srgbClr val="7EE787"/>
                </a:solidFill>
                <a:latin typeface="Calibri"/>
                <a:ea typeface="Calibri"/>
                <a:cs typeface="Calibri"/>
                <a:sym typeface="Calibri"/>
              </a:rPr>
              <a:t>s = "j" + s[1:]</a:t>
            </a: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 — Python creates a BRAND NEW string and assigns it to  </a:t>
            </a: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. The original string is untouched!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Practice Exercises 💪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182880" y="7315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Try these yourself!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182880" y="1097280"/>
            <a:ext cx="4297680" cy="118872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182880" y="1097280"/>
            <a:ext cx="4297680" cy="4572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320040" y="117043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1. Change Case Practice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320040" y="150876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Take a user input string. Print it in lowercase, UPPERCASE, and Title Case.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4663440" y="1097280"/>
            <a:ext cx="4297680" cy="118872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4663440" y="1097280"/>
            <a:ext cx="4297680" cy="45720"/>
          </a:xfrm>
          <a:prstGeom prst="rect">
            <a:avLst/>
          </a:prstGeom>
          <a:solidFill>
            <a:srgbClr val="34D399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4800600" y="117043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2. Filename Filter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800600" y="150876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From a list, print only filenames that start with "data" and end with ".csv".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182880" y="2423160"/>
            <a:ext cx="4297680" cy="118872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182880" y="2423160"/>
            <a:ext cx="4297680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320040" y="249631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3. Email Domain Checker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320040" y="283464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Check if an email ends with "@gmail.com". Print "Gmail account" or "Other provider".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4663440" y="2423160"/>
            <a:ext cx="4297680" cy="118872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4663440" y="2423160"/>
            <a:ext cx="4297680" cy="4572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4800600" y="249631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4. Custom Hashtag Generator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4800600" y="2834640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Input: " Python Is Awesome "  →  Output: #python_is_awesome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(strip, lower, replace spaces with _)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2286000" y="3749040"/>
            <a:ext cx="4572000" cy="118872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2286000" y="3749040"/>
            <a:ext cx="4572000" cy="45720"/>
          </a:xfrm>
          <a:prstGeom prst="rect">
            <a:avLst/>
          </a:prstGeom>
          <a:solidFill>
            <a:srgbClr val="F87171"/>
          </a:solidFill>
          <a:ln cap="flat" cmpd="sng" w="12700">
            <a:solidFill>
              <a:srgbClr val="F871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2423160" y="3822192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5. Validate Password Start &amp; 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2423160" y="416052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Check if password starts with a letter and ends with a digit (0-9). Print Valid/Invalid.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182880" y="18288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Solutions 🧪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182880" y="73152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One possible answer for each exercise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182880" y="1097280"/>
            <a:ext cx="4297680" cy="15087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292608" y="1170432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429768" y="1170432"/>
            <a:ext cx="91440" cy="91440"/>
          </a:xfrm>
          <a:prstGeom prst="ellipse">
            <a:avLst/>
          </a:prstGeom>
          <a:solidFill>
            <a:srgbClr val="FEBC2E"/>
          </a:solidFill>
          <a:ln cap="flat" cmpd="sng" w="1270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566928" y="1170432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292608" y="1298448"/>
            <a:ext cx="4114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Exercise 1: Change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text = input("Enter text: 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print(text.lower())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print(text.upper())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print(text.title())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4663440" y="1097280"/>
            <a:ext cx="4297680" cy="15087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4773168" y="1170432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4910328" y="1170432"/>
            <a:ext cx="91440" cy="91440"/>
          </a:xfrm>
          <a:prstGeom prst="ellipse">
            <a:avLst/>
          </a:prstGeom>
          <a:solidFill>
            <a:srgbClr val="FEBC2E"/>
          </a:solidFill>
          <a:ln cap="flat" cmpd="sng" w="1270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5047488" y="1170432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4773168" y="1298448"/>
            <a:ext cx="4114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Exercise 2: Filename Filter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files = ["data1.csv","image.png","data_report.csv","summary.txt"]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for f in files: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if f.startswith("data") and f.endswith(".csv"):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    print(f)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182880" y="2743200"/>
            <a:ext cx="4297680" cy="15087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292608" y="2816352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429768" y="2816352"/>
            <a:ext cx="91440" cy="91440"/>
          </a:xfrm>
          <a:prstGeom prst="ellipse">
            <a:avLst/>
          </a:prstGeom>
          <a:solidFill>
            <a:srgbClr val="FEBC2E"/>
          </a:solidFill>
          <a:ln cap="flat" cmpd="sng" w="1270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566928" y="2816352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292608" y="2944368"/>
            <a:ext cx="4114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Exercise 3: Email Domain Checker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email = input("Enter email: 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if email.endswith("@gmail.com"):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print("Gmail account detected")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print("Other email provider")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4663440" y="2743200"/>
            <a:ext cx="4297680" cy="15087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4773168" y="2816352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4910328" y="2816352"/>
            <a:ext cx="91440" cy="91440"/>
          </a:xfrm>
          <a:prstGeom prst="ellipse">
            <a:avLst/>
          </a:prstGeom>
          <a:solidFill>
            <a:srgbClr val="FEBC2E"/>
          </a:solidFill>
          <a:ln cap="flat" cmpd="sng" w="1270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5047488" y="2816352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4773168" y="2944368"/>
            <a:ext cx="4114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Exercise 4: Hashtag Generator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sentence = input("Enter sentence: 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hashtag = "#" + sentence.strip().lower().replace(" ", "_")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print(hashtag)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182880" y="4315968"/>
            <a:ext cx="8778240" cy="12801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292608" y="4389120"/>
            <a:ext cx="91440" cy="91440"/>
          </a:xfrm>
          <a:prstGeom prst="ellipse">
            <a:avLst/>
          </a:prstGeom>
          <a:solidFill>
            <a:srgbClr val="FF5F57"/>
          </a:solidFill>
          <a:ln cap="flat" cmpd="sng" w="12700">
            <a:solidFill>
              <a:srgbClr val="FF5F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429768" y="4389120"/>
            <a:ext cx="91440" cy="91440"/>
          </a:xfrm>
          <a:prstGeom prst="ellipse">
            <a:avLst/>
          </a:prstGeom>
          <a:solidFill>
            <a:srgbClr val="FEBC2E"/>
          </a:solidFill>
          <a:ln cap="flat" cmpd="sng" w="12700">
            <a:solidFill>
              <a:srgbClr val="FEB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566928" y="4389120"/>
            <a:ext cx="91440" cy="91440"/>
          </a:xfrm>
          <a:prstGeom prst="ellipse">
            <a:avLst/>
          </a:prstGeom>
          <a:solidFill>
            <a:srgbClr val="28C840"/>
          </a:solidFill>
          <a:ln cap="flat" cmpd="sng" w="12700">
            <a:solidFill>
              <a:srgbClr val="28C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292608" y="4517136"/>
            <a:ext cx="85953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# Exercise 5: Validate Password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password = input("Enter password: 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letters = "abcdefghijklmnopqrstuvwxyzABCDEFGHIJKLMNOPQRSTUVWXYZ"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digits = "0123456789"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if password.startswith(tuple(letters)) and password.endswith(tuple(digits)):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print("Valid start and Valid end")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7EE787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EE787"/>
                </a:solidFill>
                <a:latin typeface="Consolas"/>
                <a:ea typeface="Consolas"/>
                <a:cs typeface="Consolas"/>
                <a:sym typeface="Consolas"/>
              </a:rPr>
              <a:t>    print("Invalid password")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cap="flat" cmpd="sng" w="12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182880" y="18288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 7 — Quick Summary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182880" y="82296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502920" y="82296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String: 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sequence of characters. Created with ' ', " ", or ''' '''.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4663440" y="82296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4983480" y="82296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Immutable: 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You can't change a character in-place. Build a new string.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182880" y="1527048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📏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502920" y="1527048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len(): 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Returns total number of characters including spaces.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4663440" y="1527048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🧹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4983480" y="1527048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strip(): 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Removes leading/trailing whitespace from a string.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182880" y="2231136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502920" y="2231136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replace(): 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Replaces all occurrences of a substring with another.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4663440" y="2231136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✨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4983480" y="2231136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f-strings: 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Insert variables directly: f"Hello {name}"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182880" y="2935224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🔢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502920" y="2935224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Indexing: 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Access characters by position: text[0], text[-1].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4663440" y="2935224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✂️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4983480" y="2935224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Slicing: 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Extract portion: text[start:end] (end not included).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182880" y="3639312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502920" y="3639312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find()/count(): 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Locate or count substrings.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4663440" y="3639312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🔡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4983480" y="3639312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Case methods: 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.lower(), .upper(), .title() to change case.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182880" y="434340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📂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502920" y="434340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split(): 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Break string into a list using a separator.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4663440" y="434340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4983480" y="434340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startswith/endswith: 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Check how a string begins or ends.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