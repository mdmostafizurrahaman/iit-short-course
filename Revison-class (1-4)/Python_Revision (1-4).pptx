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ED6EDE-5745-4FAE-B924-DBD7F8233569}">
  <a:tblStyle styleId="{86ED6EDE-5745-4FAE-B924-DBD7F823356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0C9A7">
              <a:alpha val="14901"/>
            </a:srgbClr>
          </a:solidFill>
          <a:ln cap="flat" cmpd="sng" w="12700">
            <a:solidFill>
              <a:srgbClr val="00C9A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4FC3F7">
              <a:alpha val="14901"/>
            </a:srgbClr>
          </a:solidFill>
          <a:ln cap="flat" cmpd="sng" w="12700">
            <a:solidFill>
              <a:srgbClr val="4FC3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45720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🐍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554480" y="41148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Python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554480" y="105156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Revision Class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1691640"/>
            <a:ext cx="7772400" cy="27432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48640" y="1920240"/>
            <a:ext cx="3840480" cy="530352"/>
          </a:xfrm>
          <a:prstGeom prst="roundRect">
            <a:avLst>
              <a:gd fmla="val 13793" name="adj"/>
            </a:avLst>
          </a:prstGeom>
          <a:solidFill>
            <a:srgbClr val="122040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40080" y="1938528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1  Variables &amp; Data Types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2578608"/>
            <a:ext cx="3840480" cy="530352"/>
          </a:xfrm>
          <a:prstGeom prst="roundRect">
            <a:avLst>
              <a:gd fmla="val 13793" name="adj"/>
            </a:avLst>
          </a:prstGeom>
          <a:solidFill>
            <a:srgbClr val="122040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640080" y="2596896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2  Operators, Input &amp; 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48640" y="3236976"/>
            <a:ext cx="3840480" cy="530352"/>
          </a:xfrm>
          <a:prstGeom prst="roundRect">
            <a:avLst>
              <a:gd fmla="val 13793" name="adj"/>
            </a:avLst>
          </a:prstGeom>
          <a:solidFill>
            <a:srgbClr val="122040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640080" y="3255264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3  Control Flow </a:t>
            </a:r>
            <a:r>
              <a:rPr lang="en-US" sz="13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Conditional Logic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48640" y="3895344"/>
            <a:ext cx="3840480" cy="530352"/>
          </a:xfrm>
          <a:prstGeom prst="roundRect">
            <a:avLst>
              <a:gd fmla="val 13793" name="adj"/>
            </a:avLst>
          </a:prstGeom>
          <a:solidFill>
            <a:srgbClr val="122040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640080" y="3913632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4  For Loops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029200" y="4389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D166"/>
                </a:solidFill>
                <a:latin typeface="Trebuchet MS"/>
                <a:ea typeface="Trebuchet MS"/>
                <a:cs typeface="Trebuchet MS"/>
                <a:sym typeface="Trebuchet MS"/>
              </a:rPr>
              <a:t>Let's</a:t>
            </a:r>
            <a:r>
              <a:rPr b="1" lang="en-US" sz="1600">
                <a:solidFill>
                  <a:srgbClr val="FFD166"/>
                </a:solidFill>
                <a:latin typeface="Trebuchet MS"/>
                <a:ea typeface="Trebuchet MS"/>
                <a:cs typeface="Trebuchet MS"/>
                <a:sym typeface="Trebuchet MS"/>
              </a:rPr>
              <a:t> Start</a:t>
            </a:r>
            <a:r>
              <a:rPr b="1" i="0" lang="en-US" sz="1600" u="none" cap="none" strike="noStrike">
                <a:solidFill>
                  <a:srgbClr val="FFD166"/>
                </a:solidFill>
                <a:latin typeface="Trebuchet MS"/>
                <a:ea typeface="Trebuchet MS"/>
                <a:cs typeface="Trebuchet MS"/>
                <a:sym typeface="Trebuchet MS"/>
              </a:rPr>
              <a:t>! 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C9A7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8E74">
              <a:alpha val="40000"/>
            </a:srgbClr>
          </a:solidFill>
          <a:ln cap="flat" cmpd="sng" w="12700">
            <a:solidFill>
              <a:srgbClr val="008E7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Trebuchet MS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858000" y="137160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Calibri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173736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</a:t>
            </a:r>
            <a:r>
              <a:rPr b="1" lang="en-US" sz="4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</a:t>
            </a:r>
            <a:r>
              <a:rPr b="1" i="0" lang="en-US" sz="4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Types</a:t>
            </a:r>
            <a:endParaRPr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283464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Labels, memory, objects &amp; type 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040"/>
          </a:solidFill>
          <a:ln cap="flat" cmpd="sng" w="12700">
            <a:solidFill>
              <a:srgbClr val="12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1.1 Variables — The Basics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 variable is a label pointing to an object in memory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Created when a value is first assigned  (no declaration needed)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Syntax:  variable_name = value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Variables can change type after assignment (dynamic typing)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Multiple assignment in one line: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 a, b, c = 10, 20, 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Assign same value to many variables: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 x = y = z = 100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480560" y="822960"/>
            <a:ext cx="4389120" cy="4023360"/>
          </a:xfrm>
          <a:prstGeom prst="roundRect">
            <a:avLst>
              <a:gd fmla="val 2273" name="adj"/>
            </a:avLst>
          </a:prstGeom>
          <a:solidFill>
            <a:srgbClr val="0D1F3C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480560" y="8229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572000" y="1188720"/>
            <a:ext cx="41148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Creating variables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message = "Hello"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print(message)       # Hello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num = 100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print(num)           # 100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Type can change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a = "A string"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a = 10               # now int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print(a)             # 10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Multiple assignment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a, b, c = 10, 20, 30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x = y = z = 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040"/>
          </a:solidFill>
          <a:ln cap="flat" cmpd="sng" w="12700">
            <a:solidFill>
              <a:srgbClr val="12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1.2 Variable Naming Rules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274320" y="868680"/>
            <a:ext cx="8595360" cy="548640"/>
          </a:xfrm>
          <a:prstGeom prst="roundRect">
            <a:avLst>
              <a:gd fmla="val 11667" name="adj"/>
            </a:avLst>
          </a:prstGeom>
          <a:solidFill>
            <a:srgbClr val="00C9A7">
              <a:alpha val="14901"/>
            </a:srgbClr>
          </a:solidFill>
          <a:ln cap="flat" cmpd="sng" w="12700">
            <a:solidFill>
              <a:srgbClr val="00C9A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320040" y="896112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822960" y="896112"/>
            <a:ext cx="4572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Must start with a letter or underscore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5394960" y="896112"/>
            <a:ext cx="3383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var, _var, i, num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274320" y="1536192"/>
            <a:ext cx="8595360" cy="548640"/>
          </a:xfrm>
          <a:prstGeom prst="roundRect">
            <a:avLst>
              <a:gd fmla="val 11667" name="adj"/>
            </a:avLst>
          </a:prstGeom>
          <a:solidFill>
            <a:srgbClr val="FF6B6B">
              <a:alpha val="14901"/>
            </a:srgbClr>
          </a:solidFill>
          <a:ln cap="flat" cmpd="sng" w="12700">
            <a:solidFill>
              <a:srgbClr val="FF6B6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320040" y="1563624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822960" y="1563624"/>
            <a:ext cx="4572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Cannot start with a number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394960" y="1563624"/>
            <a:ext cx="3383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1_var  →  INVALID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274320" y="2203704"/>
            <a:ext cx="8595360" cy="548640"/>
          </a:xfrm>
          <a:prstGeom prst="roundRect">
            <a:avLst>
              <a:gd fmla="val 11667" name="adj"/>
            </a:avLst>
          </a:prstGeom>
          <a:solidFill>
            <a:srgbClr val="FF6B6B">
              <a:alpha val="14901"/>
            </a:srgbClr>
          </a:solidFill>
          <a:ln cap="flat" cmpd="sng" w="12700">
            <a:solidFill>
              <a:srgbClr val="FF6B6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320040" y="22311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822960" y="2231136"/>
            <a:ext cx="4572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Cannot contain spaces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394960" y="2231136"/>
            <a:ext cx="3383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new var  →  INVALID   use new_var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274320" y="2871216"/>
            <a:ext cx="8595360" cy="548640"/>
          </a:xfrm>
          <a:prstGeom prst="roundRect">
            <a:avLst>
              <a:gd fmla="val 11667" name="adj"/>
            </a:avLst>
          </a:prstGeom>
          <a:solidFill>
            <a:srgbClr val="00C9A7">
              <a:alpha val="14901"/>
            </a:srgbClr>
          </a:solidFill>
          <a:ln cap="flat" cmpd="sng" w="12700">
            <a:solidFill>
              <a:srgbClr val="00C9A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320040" y="2898648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822960" y="2898648"/>
            <a:ext cx="4572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Only letters, digits, underscores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394960" y="2898648"/>
            <a:ext cx="3383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A-Z, a-z, 0-9, _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274320" y="3538728"/>
            <a:ext cx="8595360" cy="548640"/>
          </a:xfrm>
          <a:prstGeom prst="roundRect">
            <a:avLst>
              <a:gd fmla="val 11667" name="adj"/>
            </a:avLst>
          </a:prstGeom>
          <a:solidFill>
            <a:srgbClr val="FFD166">
              <a:alpha val="14901"/>
            </a:srgbClr>
          </a:solidFill>
          <a:ln cap="flat" cmpd="sng" w="12700">
            <a:solidFill>
              <a:srgbClr val="FFD16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320040" y="3566160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822960" y="3566160"/>
            <a:ext cx="4572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Case-sensitive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394960" y="3566160"/>
            <a:ext cx="3383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number ≠ Number ≠ NUMBER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274320" y="4206240"/>
            <a:ext cx="8595360" cy="548640"/>
          </a:xfrm>
          <a:prstGeom prst="roundRect">
            <a:avLst>
              <a:gd fmla="val 11667" name="adj"/>
            </a:avLst>
          </a:prstGeom>
          <a:solidFill>
            <a:srgbClr val="FF6B6B">
              <a:alpha val="14901"/>
            </a:srgbClr>
          </a:solidFill>
          <a:ln cap="flat" cmpd="sng" w="12700">
            <a:solidFill>
              <a:srgbClr val="FF6B6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320040" y="4233672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822960" y="4233672"/>
            <a:ext cx="4572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Cannot be a keyword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394960" y="4233672"/>
            <a:ext cx="33832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if, for, while, break, True…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040"/>
          </a:solidFill>
          <a:ln cap="flat" cmpd="sng" w="12700">
            <a:solidFill>
              <a:srgbClr val="12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1.3 Python Data Types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74320" y="868680"/>
            <a:ext cx="2011680" cy="1783080"/>
          </a:xfrm>
          <a:prstGeom prst="rect">
            <a:avLst/>
          </a:prstGeom>
          <a:solidFill>
            <a:srgbClr val="122040"/>
          </a:solidFill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274320" y="868680"/>
            <a:ext cx="2011680" cy="411480"/>
          </a:xfrm>
          <a:prstGeom prst="rect">
            <a:avLst/>
          </a:prstGeom>
          <a:solidFill>
            <a:srgbClr val="00C9A7">
              <a:alpha val="70196"/>
            </a:srgbClr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320040" y="8686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320040" y="13258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Whole numbers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320040" y="18288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x = 42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320040" y="222199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AB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7A9ABF"/>
                </a:solidFill>
                <a:latin typeface="Consolas"/>
                <a:ea typeface="Consolas"/>
                <a:cs typeface="Consolas"/>
                <a:sym typeface="Consolas"/>
              </a:rPr>
              <a:t>type() →  &lt;class 'int'&gt;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2441448" y="868680"/>
            <a:ext cx="2011680" cy="1783080"/>
          </a:xfrm>
          <a:prstGeom prst="rect">
            <a:avLst/>
          </a:prstGeom>
          <a:solidFill>
            <a:srgbClr val="122040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2441448" y="868680"/>
            <a:ext cx="2011680" cy="411480"/>
          </a:xfrm>
          <a:prstGeom prst="rect">
            <a:avLst/>
          </a:prstGeom>
          <a:solidFill>
            <a:srgbClr val="4FC3F7">
              <a:alpha val="70196"/>
            </a:srgbClr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2487168" y="8686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2487168" y="13258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Decimal numbers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2487168" y="18288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y = 3.14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2487168" y="222199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AB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7A9ABF"/>
                </a:solidFill>
                <a:latin typeface="Consolas"/>
                <a:ea typeface="Consolas"/>
                <a:cs typeface="Consolas"/>
                <a:sym typeface="Consolas"/>
              </a:rPr>
              <a:t>type() →  &lt;class 'float'&gt;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608576" y="868680"/>
            <a:ext cx="2011680" cy="1783080"/>
          </a:xfrm>
          <a:prstGeom prst="rect">
            <a:avLst/>
          </a:prstGeom>
          <a:solidFill>
            <a:srgbClr val="122040"/>
          </a:solidFill>
          <a:ln cap="flat" cmpd="sng" w="254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4608576" y="868680"/>
            <a:ext cx="2011680" cy="411480"/>
          </a:xfrm>
          <a:prstGeom prst="rect">
            <a:avLst/>
          </a:prstGeom>
          <a:solidFill>
            <a:srgbClr val="A78BFA">
              <a:alpha val="70196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654296" y="8686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complex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654296" y="13258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Real + imaginary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654296" y="18288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z = 5+7j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654296" y="222199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AB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7A9ABF"/>
                </a:solidFill>
                <a:latin typeface="Consolas"/>
                <a:ea typeface="Consolas"/>
                <a:cs typeface="Consolas"/>
                <a:sym typeface="Consolas"/>
              </a:rPr>
              <a:t>type() →  &lt;class 'complex'&gt;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775704" y="868680"/>
            <a:ext cx="2011680" cy="1783080"/>
          </a:xfrm>
          <a:prstGeom prst="rect">
            <a:avLst/>
          </a:prstGeom>
          <a:solidFill>
            <a:srgbClr val="122040"/>
          </a:solidFill>
          <a:ln cap="flat" cmpd="sng" w="254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6775704" y="868680"/>
            <a:ext cx="2011680" cy="411480"/>
          </a:xfrm>
          <a:prstGeom prst="rect">
            <a:avLst/>
          </a:prstGeom>
          <a:solidFill>
            <a:srgbClr val="FFD166">
              <a:alpha val="70196"/>
            </a:srgbClr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6821424" y="8686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821424" y="13258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True / False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821424" y="18288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a = 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821424" y="222199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AB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7A9ABF"/>
                </a:solidFill>
                <a:latin typeface="Consolas"/>
                <a:ea typeface="Consolas"/>
                <a:cs typeface="Consolas"/>
                <a:sym typeface="Consolas"/>
              </a:rPr>
              <a:t>type() →  &lt;class 'bool'&gt;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274320" y="2880360"/>
            <a:ext cx="2011680" cy="1783080"/>
          </a:xfrm>
          <a:prstGeom prst="rect">
            <a:avLst/>
          </a:prstGeom>
          <a:solidFill>
            <a:srgbClr val="122040"/>
          </a:solidFill>
          <a:ln cap="flat" cmpd="sng" w="254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274320" y="2880360"/>
            <a:ext cx="2011680" cy="411480"/>
          </a:xfrm>
          <a:prstGeom prst="rect">
            <a:avLst/>
          </a:prstGeom>
          <a:solidFill>
            <a:srgbClr val="FF9F43">
              <a:alpha val="70196"/>
            </a:srgbClr>
          </a:solidFill>
          <a:ln cap="flat" cmpd="sng" w="127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320040" y="2880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20040" y="33375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Text / string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20040" y="38404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n = "Hi"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320040" y="423367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AB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7A9ABF"/>
                </a:solidFill>
                <a:latin typeface="Consolas"/>
                <a:ea typeface="Consolas"/>
                <a:cs typeface="Consolas"/>
                <a:sym typeface="Consolas"/>
              </a:rPr>
              <a:t>type() →  &lt;class 'str'&gt;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2441448" y="2880360"/>
            <a:ext cx="2011680" cy="1783080"/>
          </a:xfrm>
          <a:prstGeom prst="rect">
            <a:avLst/>
          </a:prstGeom>
          <a:solidFill>
            <a:srgbClr val="122040"/>
          </a:solidFill>
          <a:ln cap="flat" cmpd="sng" w="254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2441448" y="2880360"/>
            <a:ext cx="2011680" cy="411480"/>
          </a:xfrm>
          <a:prstGeom prst="rect">
            <a:avLst/>
          </a:prstGeom>
          <a:solidFill>
            <a:srgbClr val="FF6B6B">
              <a:alpha val="70196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2487168" y="2880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2487168" y="33375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Ordered mutable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2487168" y="38404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lst = [1,2,3]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2487168" y="423367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AB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7A9ABF"/>
                </a:solidFill>
                <a:latin typeface="Consolas"/>
                <a:ea typeface="Consolas"/>
                <a:cs typeface="Consolas"/>
                <a:sym typeface="Consolas"/>
              </a:rPr>
              <a:t>type() →  &lt;class 'list'&gt;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608576" y="2880360"/>
            <a:ext cx="2011680" cy="1783080"/>
          </a:xfrm>
          <a:prstGeom prst="rect">
            <a:avLst/>
          </a:prstGeom>
          <a:solidFill>
            <a:srgbClr val="122040"/>
          </a:solidFill>
          <a:ln cap="flat" cmpd="sng" w="254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608576" y="2880360"/>
            <a:ext cx="2011680" cy="411480"/>
          </a:xfrm>
          <a:prstGeom prst="rect">
            <a:avLst/>
          </a:prstGeom>
          <a:solidFill>
            <a:srgbClr val="34D399">
              <a:alpha val="70196"/>
            </a:srgbClr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654296" y="2880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tuple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654296" y="33375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Ordered immutable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654296" y="38404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t = (1,2)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654296" y="423367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AB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7A9ABF"/>
                </a:solidFill>
                <a:latin typeface="Consolas"/>
                <a:ea typeface="Consolas"/>
                <a:cs typeface="Consolas"/>
                <a:sym typeface="Consolas"/>
              </a:rPr>
              <a:t>type() →  &lt;class 'tuple'&gt;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775704" y="2880360"/>
            <a:ext cx="2011680" cy="1783080"/>
          </a:xfrm>
          <a:prstGeom prst="rect">
            <a:avLst/>
          </a:prstGeom>
          <a:solidFill>
            <a:srgbClr val="122040"/>
          </a:solidFill>
          <a:ln cap="flat" cmpd="sng" w="254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775704" y="2880360"/>
            <a:ext cx="2011680" cy="411480"/>
          </a:xfrm>
          <a:prstGeom prst="rect">
            <a:avLst/>
          </a:prstGeom>
          <a:solidFill>
            <a:srgbClr val="60A5FA">
              <a:alpha val="70196"/>
            </a:srgbClr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6821424" y="2880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821424" y="33375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Key-value pairs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821424" y="38404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d = {"a":1}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821424" y="423367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AB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7A9ABF"/>
                </a:solidFill>
                <a:latin typeface="Consolas"/>
                <a:ea typeface="Consolas"/>
                <a:cs typeface="Consolas"/>
                <a:sym typeface="Consolas"/>
              </a:rPr>
              <a:t>type() →  &lt;class 'dict'&gt;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040"/>
          </a:solidFill>
          <a:ln cap="flat" cmpd="sng" w="12700">
            <a:solidFill>
              <a:srgbClr val="12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1.4 Type Casting (Typecasting)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Converting a value from one type to another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int()  — truncates decimals, converts </a:t>
            </a: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strings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float()  — converts to floating-point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str()  — converts to string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bool()  — 0, empty, None → False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          all others → True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⚠️ Always cast input() results before math!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480560" y="822960"/>
            <a:ext cx="4389120" cy="4023360"/>
          </a:xfrm>
          <a:prstGeom prst="roundRect">
            <a:avLst>
              <a:gd fmla="val 2273" name="adj"/>
            </a:avLst>
          </a:prstGeom>
          <a:solidFill>
            <a:srgbClr val="0D1F3C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480560" y="8229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572000" y="1188720"/>
            <a:ext cx="41148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int()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print(int(10.7))     # 10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print(int("25"))     # 25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print(int(True))     #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float()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print(float(10))     # 10.0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print(float("3.14")) # 3.14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bool()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print(bool(0))       # False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print(bool(""))      # False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print(bool([]))      # False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print(bool(5))       # True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str()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age = 25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print("Age: " + str(age))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C9A7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8E74">
              <a:alpha val="40000"/>
            </a:srgbClr>
          </a:solidFill>
          <a:ln cap="flat" cmpd="sng" w="12700">
            <a:solidFill>
              <a:srgbClr val="008E7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Trebuchet MS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858000" y="137160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Calibri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57200" y="173736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Operators, Input &amp; Output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57200" y="283464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Arithmetic · Assignment · Logical · Relational · print() · input()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040"/>
          </a:solidFill>
          <a:ln cap="flat" cmpd="sng" w="12700">
            <a:solidFill>
              <a:srgbClr val="12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FF9F43"/>
          </a:solidFill>
          <a:ln cap="flat" cmpd="sng" w="127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2.1 Arithmetic Operators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p10"/>
          <p:cNvGraphicFramePr/>
          <p:nvPr/>
        </p:nvGraphicFramePr>
        <p:xfrm>
          <a:off x="27432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{86ED6EDE-5745-4FAE-B924-DBD7F8233569}</a:tableStyleId>
              </a:tblPr>
              <a:tblGrid>
                <a:gridCol w="1005850"/>
                <a:gridCol w="1920250"/>
                <a:gridCol w="18288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Operator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Name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Example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5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C9A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C4D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B0C4DE"/>
                          </a:solidFill>
                        </a:rPr>
                        <a:t>Addition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FF78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A8FF7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 + 2 = 5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C9A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C4D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B0C4DE"/>
                          </a:solidFill>
                        </a:rPr>
                        <a:t>Subtraction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FF78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A8FF7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5 - 2 = 3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C9A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C4D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B0C4DE"/>
                          </a:solidFill>
                        </a:rPr>
                        <a:t>Multiplication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FF78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A8FF7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 * 2 = 8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C9A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C4D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B0C4DE"/>
                          </a:solidFill>
                        </a:rPr>
                        <a:t>Division (float)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FF78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A8FF7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 / 2 = 3.5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C9A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C4D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B0C4DE"/>
                          </a:solidFill>
                        </a:rPr>
                        <a:t>Floor Division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FF78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A8FF7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 // 2 = 3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C9A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C4D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B0C4DE"/>
                          </a:solidFill>
                        </a:rPr>
                        <a:t>Modulus (remainder)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FF78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A8FF7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7 % 2 = 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C9A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**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C4D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B0C4DE"/>
                          </a:solidFill>
                        </a:rPr>
                        <a:t>Exponentiation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FF78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A8FF7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 ** 3 = 8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040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p10"/>
          <p:cNvSpPr/>
          <p:nvPr/>
        </p:nvSpPr>
        <p:spPr>
          <a:xfrm>
            <a:off x="5303520" y="822960"/>
            <a:ext cx="3566160" cy="4023360"/>
          </a:xfrm>
          <a:prstGeom prst="roundRect">
            <a:avLst>
              <a:gd fmla="val 2051" name="adj"/>
            </a:avLst>
          </a:prstGeom>
          <a:solidFill>
            <a:srgbClr val="0D1F3C"/>
          </a:solidFill>
          <a:ln cap="flat" cmpd="sng" w="127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5440680" y="960120"/>
            <a:ext cx="32918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a = 10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b = 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print(a + b)   # 13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print(a - b)   # 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print(a * b)   # 30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print(a / b)   # 3.333...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print(a // b)  # 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print(a % b)   #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print(a ** b)  # 1000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040"/>
          </a:solidFill>
          <a:ln cap="flat" cmpd="sng" w="12700">
            <a:solidFill>
              <a:srgbClr val="12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2.2 Assignment &amp; Logical Operators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Assignment Operators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274320" y="1188720"/>
            <a:ext cx="640080" cy="42062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274320" y="1188720"/>
            <a:ext cx="640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1005840" y="1188720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x += 3  →  x = x+3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274320" y="1682496"/>
            <a:ext cx="640080" cy="42062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274320" y="1682496"/>
            <a:ext cx="640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-=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1005840" y="1682496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x -=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274320" y="2176272"/>
            <a:ext cx="640080" cy="42062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274320" y="2176272"/>
            <a:ext cx="640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*=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1005840" y="2176272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x *=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274320" y="2670048"/>
            <a:ext cx="640080" cy="42062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274320" y="2670048"/>
            <a:ext cx="640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/=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1005840" y="2670048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x /=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274320" y="3163824"/>
            <a:ext cx="640080" cy="42062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274320" y="3163824"/>
            <a:ext cx="640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//=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1005840" y="3163824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x //=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274320" y="3657600"/>
            <a:ext cx="640080" cy="42062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274320" y="3657600"/>
            <a:ext cx="640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%=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1005840" y="3657600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x %=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274320" y="4151376"/>
            <a:ext cx="640080" cy="42062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274320" y="4151376"/>
            <a:ext cx="640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**=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005840" y="4151376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x **=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754880" y="7772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Logical Operators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4754880" y="1188720"/>
            <a:ext cx="4114800" cy="1143000"/>
          </a:xfrm>
          <a:prstGeom prst="roundRect">
            <a:avLst>
              <a:gd fmla="val 6400" name="adj"/>
            </a:avLst>
          </a:prstGeom>
          <a:solidFill>
            <a:srgbClr val="122040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4846320" y="123444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623560" y="12344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True if BOTH are true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4846320" y="164592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T and T → 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T and F → False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4754880" y="2450592"/>
            <a:ext cx="4114800" cy="1143000"/>
          </a:xfrm>
          <a:prstGeom prst="roundRect">
            <a:avLst>
              <a:gd fmla="val 6400" name="adj"/>
            </a:avLst>
          </a:prstGeom>
          <a:solidFill>
            <a:srgbClr val="122040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4846320" y="2496312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5623560" y="249631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True if AT LEAST ONE is true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4846320" y="2907792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T or F → 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 or F → False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4754880" y="3712464"/>
            <a:ext cx="4114800" cy="1143000"/>
          </a:xfrm>
          <a:prstGeom prst="roundRect">
            <a:avLst>
              <a:gd fmla="val 6400" name="adj"/>
            </a:avLst>
          </a:prstGeom>
          <a:solidFill>
            <a:srgbClr val="122040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4846320" y="3758184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5623560" y="375818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Inverts the boolean value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4846320" y="4169664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not True → False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not False → 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040"/>
          </a:solidFill>
          <a:ln cap="flat" cmpd="sng" w="12700">
            <a:solidFill>
              <a:srgbClr val="12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2.3 Relational (Comparison) Operators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274320" y="822960"/>
            <a:ext cx="8595360" cy="566928"/>
          </a:xfrm>
          <a:prstGeom prst="roundRect">
            <a:avLst>
              <a:gd fmla="val 11290" name="adj"/>
            </a:avLst>
          </a:prstGeom>
          <a:solidFill>
            <a:srgbClr val="1220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365760" y="822960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1280160" y="822960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Equal 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4114800" y="822960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5 ==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6675120" y="914400"/>
            <a:ext cx="1097280" cy="384048"/>
          </a:xfrm>
          <a:prstGeom prst="roundRect">
            <a:avLst>
              <a:gd fmla="val 16667" name="adj"/>
            </a:avLst>
          </a:prstGeom>
          <a:solidFill>
            <a:srgbClr val="00C9A7">
              <a:alpha val="80000"/>
            </a:srgbClr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6675120" y="91440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274320" y="1490472"/>
            <a:ext cx="8595360" cy="566928"/>
          </a:xfrm>
          <a:prstGeom prst="roundRect">
            <a:avLst>
              <a:gd fmla="val 11290" name="adj"/>
            </a:avLst>
          </a:prstGeom>
          <a:solidFill>
            <a:srgbClr val="1220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365760" y="1490472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!=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1280160" y="1490472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Not equal 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4114800" y="1490472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4 !=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6675120" y="1581912"/>
            <a:ext cx="1097280" cy="384048"/>
          </a:xfrm>
          <a:prstGeom prst="roundRect">
            <a:avLst>
              <a:gd fmla="val 16667" name="adj"/>
            </a:avLst>
          </a:prstGeom>
          <a:solidFill>
            <a:srgbClr val="00C9A7">
              <a:alpha val="80000"/>
            </a:srgbClr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6675120" y="1581912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274320" y="2157984"/>
            <a:ext cx="8595360" cy="566928"/>
          </a:xfrm>
          <a:prstGeom prst="roundRect">
            <a:avLst>
              <a:gd fmla="val 11290" name="adj"/>
            </a:avLst>
          </a:prstGeom>
          <a:solidFill>
            <a:srgbClr val="1220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365760" y="2157984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1280160" y="2157984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Greater than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4114800" y="2157984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7 &gt;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6675120" y="2249424"/>
            <a:ext cx="1097280" cy="384048"/>
          </a:xfrm>
          <a:prstGeom prst="roundRect">
            <a:avLst>
              <a:gd fmla="val 16667" name="adj"/>
            </a:avLst>
          </a:prstGeom>
          <a:solidFill>
            <a:srgbClr val="00C9A7">
              <a:alpha val="80000"/>
            </a:srgbClr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6675120" y="2249424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274320" y="2825496"/>
            <a:ext cx="8595360" cy="566928"/>
          </a:xfrm>
          <a:prstGeom prst="roundRect">
            <a:avLst>
              <a:gd fmla="val 11290" name="adj"/>
            </a:avLst>
          </a:prstGeom>
          <a:solidFill>
            <a:srgbClr val="1220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365760" y="2825496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1280160" y="2825496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Less than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4114800" y="2825496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3 &lt;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6675120" y="2916936"/>
            <a:ext cx="1097280" cy="384048"/>
          </a:xfrm>
          <a:prstGeom prst="roundRect">
            <a:avLst>
              <a:gd fmla="val 16667" name="adj"/>
            </a:avLst>
          </a:prstGeom>
          <a:solidFill>
            <a:srgbClr val="FF6B6B">
              <a:alpha val="80000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6675120" y="2916936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274320" y="3493008"/>
            <a:ext cx="8595360" cy="566928"/>
          </a:xfrm>
          <a:prstGeom prst="roundRect">
            <a:avLst>
              <a:gd fmla="val 11290" name="adj"/>
            </a:avLst>
          </a:prstGeom>
          <a:solidFill>
            <a:srgbClr val="1220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365760" y="3493008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&gt;=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1280160" y="3493008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Greater than or equal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4114800" y="3493008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5 &gt;=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6675120" y="3584448"/>
            <a:ext cx="1097280" cy="384048"/>
          </a:xfrm>
          <a:prstGeom prst="roundRect">
            <a:avLst>
              <a:gd fmla="val 16667" name="adj"/>
            </a:avLst>
          </a:prstGeom>
          <a:solidFill>
            <a:srgbClr val="00C9A7">
              <a:alpha val="80000"/>
            </a:srgbClr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6675120" y="3584448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274320" y="4160520"/>
            <a:ext cx="8595360" cy="566928"/>
          </a:xfrm>
          <a:prstGeom prst="roundRect">
            <a:avLst>
              <a:gd fmla="val 11290" name="adj"/>
            </a:avLst>
          </a:prstGeom>
          <a:solidFill>
            <a:srgbClr val="1220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365760" y="4160520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&lt;=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1280160" y="4160520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Less than or equal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4114800" y="4160520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6 &lt;= 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675120" y="4251960"/>
            <a:ext cx="1097280" cy="384048"/>
          </a:xfrm>
          <a:prstGeom prst="roundRect">
            <a:avLst>
              <a:gd fmla="val 16667" name="adj"/>
            </a:avLst>
          </a:prstGeom>
          <a:solidFill>
            <a:srgbClr val="00C9A7">
              <a:alpha val="80000"/>
            </a:srgbClr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6675120" y="425196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040"/>
          </a:solidFill>
          <a:ln cap="flat" cmpd="sng" w="12700">
            <a:solidFill>
              <a:srgbClr val="12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2.4 Output — print()  &amp;  Input — input()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print() displays values to the screen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Multiple values → separate with commas (space in between)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sep=  changes separator  (default: space)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end=  changes line ending  (default: \n)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f-strings  →  f"value is {variable}"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input() always returns a STRING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Cast with int() / float() before doing math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4480560" y="822960"/>
            <a:ext cx="4389120" cy="4023360"/>
          </a:xfrm>
          <a:prstGeom prst="roundRect">
            <a:avLst>
              <a:gd fmla="val 2273" name="adj"/>
            </a:avLst>
          </a:prstGeom>
          <a:solidFill>
            <a:srgbClr val="0D1F3C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4480560" y="8229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4572000" y="1188720"/>
            <a:ext cx="41148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Basic print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print("Hello", "World")   # Hello World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print("A","B","C",sep="-") # A-B-C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print("Line 1", end=" | 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print("Line 2")            # Line 1 | Line 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f-strings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name = "Alice"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score = 95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print(f"{name} scored {score}")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Alice scored 95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input + casting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age = int(input("Enter age: "))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h   = float(input("Height m: "))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print(f"Age in 5 yrs: {age+5}")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print(f"Doubled ht:  {h*2}")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C9A7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8E74">
              <a:alpha val="40000"/>
            </a:srgbClr>
          </a:solidFill>
          <a:ln cap="flat" cmpd="sng" w="12700">
            <a:solidFill>
              <a:srgbClr val="008E7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Trebuchet MS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6858000" y="137160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Calibri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🔀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457200" y="173736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Control Flow — Conditional Logic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457200" y="283464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· if-else · if-elif-else · nested conditions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040"/>
          </a:solidFill>
          <a:ln cap="flat" cmpd="sng" w="12700">
            <a:solidFill>
              <a:srgbClr val="12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3.1 The if  and  if-else  Statements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if  — executes block ONLY when condition is True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else  — runs when the if condition is False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Python uses INDENTATION (4 spaces) to define blocks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Colon (:) is required after every if / else / elif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Exactly ONE of the blocks runs — never both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⚠️ IndentationError if you forget to indent!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4480560" y="822960"/>
            <a:ext cx="4389120" cy="4023360"/>
          </a:xfrm>
          <a:prstGeom prst="roundRect">
            <a:avLst>
              <a:gd fmla="val 2273" name="adj"/>
            </a:avLst>
          </a:prstGeom>
          <a:solidFill>
            <a:srgbClr val="0D1F3C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4480560" y="8229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4572000" y="1188720"/>
            <a:ext cx="41148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if statement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temperature = 30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if temperature &gt; 25: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print("It's warm!")   # runs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print("Wear light clothes.")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if-else statement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age = 16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if age &gt;= 18: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print("Eligible to vote.")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print("Please register!")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print("Not yet eligible.")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print(f"Wait {18-age} more years.")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Note: exactly one block executes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8" name="Google Shape;2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850" y="2765150"/>
            <a:ext cx="3351250" cy="219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040"/>
          </a:solidFill>
          <a:ln cap="flat" cmpd="sng" w="12700">
            <a:solidFill>
              <a:srgbClr val="12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3.2 The if-elif-else  Statement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elif  =  'else if'  — chains multiple conditions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Python checks conditions TOP to BOTTOM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Stops at the FIRST True condition and skips the 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else  at the end catches anything that didn't match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Use elif when you have MORE than 2 possible cases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4480560" y="822960"/>
            <a:ext cx="4389120" cy="4023360"/>
          </a:xfrm>
          <a:prstGeom prst="roundRect">
            <a:avLst>
              <a:gd fmla="val 2273" name="adj"/>
            </a:avLst>
          </a:prstGeom>
          <a:solidFill>
            <a:srgbClr val="0D1F3C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4480560" y="8229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4572000" y="1188720"/>
            <a:ext cx="41148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temperature = 15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if temperature &gt; 30: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print("Hot outside!")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print("Stay hydrated.")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elif temperature &gt; 20: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print("Warm and pleasant.")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elif temperature &gt; 10: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print("Cool but comfortable.")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print("Light jacket maybe.")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print("Cold outside!")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print("Bundle up!")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temp=15 matches 3rd condition (15&gt;10)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→ "Cool but comfortable."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040"/>
          </a:solidFill>
          <a:ln cap="flat" cmpd="sng" w="12700">
            <a:solidFill>
              <a:srgbClr val="12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3.3 Logical Operators in Conditions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and  →  BOTH conditions must be True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or  →  AT LEAST ONE must be True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not  →  REVERSES the Boolean value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Use parentheses for complex expressions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Combine and, or, not for powerful checks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4480560" y="822960"/>
            <a:ext cx="4389120" cy="4023360"/>
          </a:xfrm>
          <a:prstGeom prst="roundRect">
            <a:avLst>
              <a:gd fmla="val 2273" name="adj"/>
            </a:avLst>
          </a:prstGeom>
          <a:solidFill>
            <a:srgbClr val="0D1F3C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4562750" y="938945"/>
            <a:ext cx="41148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and operator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age = 25; has_license = True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if age &gt;= 18 and has_license: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print("Can drive legally!")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print("Cannot drive.")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or operator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day = "Saturday"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if day == "Saturday" or day == "Sunday":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print("Weekend! No work.")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not operator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is_raining = False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if not is_raining: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print("Great day for a walk!")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Combined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gpa = 3.7; status = "undergraduate"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if (18 &lt;= age &lt;= 25) and    (status=="undergraduate" 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status=="graduate") and gpa&gt;=3.5: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print("Scholarship eligible!")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040"/>
          </a:solidFill>
          <a:ln cap="flat" cmpd="sng" w="12700">
            <a:solidFill>
              <a:srgbClr val="12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8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8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3.4 Nested Conditional Statements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Place if statements INSIDE other if blocks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Each nested level adds 4 more spaces of indentation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Creates tree-like decision structures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Inner checks run ONLY if outer condition is True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Useful for hierarchical or sequential decisions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4480560" y="822960"/>
            <a:ext cx="4389120" cy="4023360"/>
          </a:xfrm>
          <a:prstGeom prst="roundRect">
            <a:avLst>
              <a:gd fmla="val 2273" name="adj"/>
            </a:avLst>
          </a:prstGeom>
          <a:solidFill>
            <a:srgbClr val="0D1F3C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8"/>
          <p:cNvSpPr/>
          <p:nvPr/>
        </p:nvSpPr>
        <p:spPr>
          <a:xfrm>
            <a:off x="4617725" y="966700"/>
            <a:ext cx="4114800" cy="3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weather = "sunny"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temperature = 28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has_sunscreen = True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if weather == "sunny":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print("It's a sunny day!")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if temperature &gt; 25: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  print("Also quite warm.")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  if has_sunscreen: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      print("Enjoy the beach!")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  else: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      print("Apply sunscreen first.")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else: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  print("Sunny but cool. Walk!")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print("Not sunny today.")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if weather == "rainy":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  print("Don't forget umbrella!")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elif weather == "cloudy":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  print("Good for indoor activities.")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C9A7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8E74">
              <a:alpha val="40000"/>
            </a:srgbClr>
          </a:solidFill>
          <a:ln cap="flat" cmpd="sng" w="12700">
            <a:solidFill>
              <a:srgbClr val="008E7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9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Trebuchet MS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6858000" y="137160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Calibri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457200" y="173736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For Loop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457200" y="283464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range() · loop body · break · continue · nested loops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040"/>
          </a:solidFill>
          <a:ln cap="flat" cmpd="sng" w="12700">
            <a:solidFill>
              <a:srgbClr val="12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0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4.1 For Loop  &amp;  range() Function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-34925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400"/>
              <a:buFont typeface="Times New Roman"/>
              <a:buChar char="•"/>
            </a:pPr>
            <a:r>
              <a:rPr i="0" lang="en-US" u="none" cap="none" strike="noStrike">
                <a:solidFill>
                  <a:srgbClr val="B0C4D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loop  — repeats code for each item in a sequence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400"/>
              <a:buFont typeface="Times New Roman"/>
              <a:buChar char="•"/>
            </a:pPr>
            <a:r>
              <a:rPr i="0" lang="en-US" u="none" cap="none" strike="noStrike">
                <a:solidFill>
                  <a:srgbClr val="B0C4D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range(stop)  →  0, 1, …, stop-1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400"/>
              <a:buFont typeface="Times New Roman"/>
              <a:buChar char="•"/>
            </a:pPr>
            <a:r>
              <a:rPr i="0" lang="en-US" u="none" cap="none" strike="noStrike">
                <a:solidFill>
                  <a:srgbClr val="B0C4D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range(start, stop)  →  start, …, stop-1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400"/>
              <a:buFont typeface="Times New Roman"/>
              <a:buChar char="•"/>
            </a:pPr>
            <a:r>
              <a:rPr i="0" lang="en-US" u="none" cap="none" strike="noStrike">
                <a:solidFill>
                  <a:srgbClr val="B0C4D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range(start, stop, step)  →  custom increments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400"/>
              <a:buFont typeface="Times New Roman"/>
              <a:buChar char="•"/>
            </a:pPr>
            <a:r>
              <a:rPr i="0" lang="en-US" u="none" cap="none" strike="noStrike">
                <a:solidFill>
                  <a:srgbClr val="B0C4D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step  →  countdown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400"/>
              <a:buFont typeface="Times New Roman"/>
              <a:buChar char="•"/>
            </a:pPr>
            <a:r>
              <a:rPr i="0" lang="en-US" u="none" cap="none" strike="noStrike">
                <a:solidFill>
                  <a:srgbClr val="B0C4D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 variable (i) holds current value each iteration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400"/>
              <a:buFont typeface="Times New Roman"/>
              <a:buChar char="•"/>
            </a:pPr>
            <a:r>
              <a:rPr i="0" lang="en-US" u="none" cap="none" strike="noStrike">
                <a:solidFill>
                  <a:srgbClr val="B0C4D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 body must be INDENTED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4480560" y="822960"/>
            <a:ext cx="4389120" cy="4023360"/>
          </a:xfrm>
          <a:prstGeom prst="roundRect">
            <a:avLst>
              <a:gd fmla="val 2273" name="adj"/>
            </a:avLst>
          </a:prstGeom>
          <a:solidFill>
            <a:srgbClr val="0D1F3C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0"/>
          <p:cNvSpPr/>
          <p:nvPr/>
        </p:nvSpPr>
        <p:spPr>
          <a:xfrm>
            <a:off x="4572000" y="975945"/>
            <a:ext cx="41148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Basic counting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for i in range(5):      # 0,1,2,3,4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print(f"Number: {i}")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From 1 to 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for n in range(1, 6):   # 1,2,3,4,5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print(f"Number: {n}")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Even numbers 2-10 (step 2)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for even in range(2, 11, 2):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print(f"Even: {even}")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Countdown from 5 to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for x in range(5, 0, -1):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print(x)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Sum 1 to 10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total = 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for num in range(1, 11):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total += num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print(f"Sum = {total}")  # 55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5" name="Google Shape;35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325" y="2417954"/>
            <a:ext cx="3616150" cy="26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040"/>
          </a:solidFill>
          <a:ln cap="flat" cmpd="sng" w="12700">
            <a:solidFill>
              <a:srgbClr val="12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1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4.2 Loop Control — break  &amp;  continue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break  →  EXIT the loop immediately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continue  →  SKIP current iteration, go to next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break  is useful when you've found what you need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continue  is useful to skip unwanted values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Both work inside for and while loops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4480560" y="822960"/>
            <a:ext cx="4389120" cy="4023360"/>
          </a:xfrm>
          <a:prstGeom prst="roundRect">
            <a:avLst>
              <a:gd fmla="val 2273" name="adj"/>
            </a:avLst>
          </a:prstGeom>
          <a:solidFill>
            <a:srgbClr val="0D1F3C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1"/>
          <p:cNvSpPr/>
          <p:nvPr/>
        </p:nvSpPr>
        <p:spPr>
          <a:xfrm>
            <a:off x="4617700" y="911195"/>
            <a:ext cx="41148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break — exit when found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for num in range(1, 50):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if num % 7 == 0: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  print(f"First div by 7: {num}")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  break        # found! stop loop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print(f"{num} not divisible")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→ First div by 7: 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continue — skip even numbers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for num in range(1, 11):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if num % 2 == 0: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  continue     # skip evens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print(f"Odd: {num}")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→ Odd: 1, 3, 5, 7, 9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Loop with accumulator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total = 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for i in range(1, 6):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total += 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print(f"Sum 1-5 = {total}")  # 15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040"/>
          </a:solidFill>
          <a:ln cap="flat" cmpd="sng" w="12700">
            <a:solidFill>
              <a:srgbClr val="12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2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4.3 Nested Loops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63500" lIns="63500" spcFirstLastPara="1" rIns="63500" wrap="square" tIns="635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 loop inside another loop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Outer loop = rows, Inner loop = columns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Inner loop runs COMPLETELY for each outer iteration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Total iterations = outer × inner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Use end=""  to print on the same 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print()  with no args moves to next 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B0C4D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Great for: patterns, multiplication tables, 2D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4480560" y="822960"/>
            <a:ext cx="4389120" cy="4023360"/>
          </a:xfrm>
          <a:prstGeom prst="roundRect">
            <a:avLst>
              <a:gd fmla="val 2273" name="adj"/>
            </a:avLst>
          </a:prstGeom>
          <a:solidFill>
            <a:srgbClr val="0D1F3C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2"/>
          <p:cNvSpPr/>
          <p:nvPr/>
        </p:nvSpPr>
        <p:spPr>
          <a:xfrm>
            <a:off x="4562750" y="938945"/>
            <a:ext cx="41148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Star triangle pattern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rows = 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for row in range(1, rows+1):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for item in range(row):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  print("*", end="")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print()    # move to next 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*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**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***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****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*****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Multiplication table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n = int(input("Enter number: "))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for i in range(1, 11):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print(f"{n} x {i} = {n*i}")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Number staircase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for r in range(1, 6):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for c in range(1, r+1):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  print(c, end="")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print()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1150"/>
              <a:buFont typeface="Consolas"/>
              <a:buNone/>
            </a:pPr>
            <a:r>
              <a:rPr b="0" i="0" lang="en-US" sz="10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# 1  12  123  1234  12345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040"/>
          </a:solidFill>
          <a:ln cap="flat" cmpd="sng" w="12700">
            <a:solidFill>
              <a:srgbClr val="122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3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Practice Problems at a Glance 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274320" y="822960"/>
            <a:ext cx="4206240" cy="914400"/>
          </a:xfrm>
          <a:prstGeom prst="roundRect">
            <a:avLst>
              <a:gd fmla="val 8000" name="adj"/>
            </a:avLst>
          </a:prstGeom>
          <a:solidFill>
            <a:srgbClr val="122040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3"/>
          <p:cNvSpPr/>
          <p:nvPr/>
        </p:nvSpPr>
        <p:spPr>
          <a:xfrm>
            <a:off x="274320" y="822960"/>
            <a:ext cx="4206240" cy="292608"/>
          </a:xfrm>
          <a:prstGeom prst="rect">
            <a:avLst/>
          </a:prstGeom>
          <a:solidFill>
            <a:srgbClr val="00C9A7">
              <a:alpha val="70196"/>
            </a:srgbClr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3"/>
          <p:cNvSpPr/>
          <p:nvPr/>
        </p:nvSpPr>
        <p:spPr>
          <a:xfrm>
            <a:off x="365760" y="82296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Variables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365760" y="114300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Assign 'Python' to language and 2025 to year. Print both with type().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4709160" y="822960"/>
            <a:ext cx="4206240" cy="914400"/>
          </a:xfrm>
          <a:prstGeom prst="roundRect">
            <a:avLst>
              <a:gd fmla="val 8000" name="adj"/>
            </a:avLst>
          </a:prstGeom>
          <a:solidFill>
            <a:srgbClr val="122040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3"/>
          <p:cNvSpPr/>
          <p:nvPr/>
        </p:nvSpPr>
        <p:spPr>
          <a:xfrm>
            <a:off x="4709160" y="822960"/>
            <a:ext cx="4206240" cy="292608"/>
          </a:xfrm>
          <a:prstGeom prst="rect">
            <a:avLst/>
          </a:prstGeom>
          <a:solidFill>
            <a:srgbClr val="4FC3F7">
              <a:alpha val="70196"/>
            </a:srgbClr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3"/>
          <p:cNvSpPr/>
          <p:nvPr/>
        </p:nvSpPr>
        <p:spPr>
          <a:xfrm>
            <a:off x="4800600" y="82296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Operators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3"/>
          <p:cNvSpPr/>
          <p:nvPr/>
        </p:nvSpPr>
        <p:spPr>
          <a:xfrm>
            <a:off x="4800600" y="114300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Take two numbers from user. Print sum, difference, product, quotient.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3"/>
          <p:cNvSpPr/>
          <p:nvPr/>
        </p:nvSpPr>
        <p:spPr>
          <a:xfrm>
            <a:off x="274320" y="1874520"/>
            <a:ext cx="4206240" cy="914400"/>
          </a:xfrm>
          <a:prstGeom prst="roundRect">
            <a:avLst>
              <a:gd fmla="val 8000" name="adj"/>
            </a:avLst>
          </a:prstGeom>
          <a:solidFill>
            <a:srgbClr val="122040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3"/>
          <p:cNvSpPr/>
          <p:nvPr/>
        </p:nvSpPr>
        <p:spPr>
          <a:xfrm>
            <a:off x="274320" y="1874520"/>
            <a:ext cx="4206240" cy="292608"/>
          </a:xfrm>
          <a:prstGeom prst="rect">
            <a:avLst/>
          </a:prstGeom>
          <a:solidFill>
            <a:srgbClr val="FFD166">
              <a:alpha val="70196"/>
            </a:srgbClr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3"/>
          <p:cNvSpPr/>
          <p:nvPr/>
        </p:nvSpPr>
        <p:spPr>
          <a:xfrm>
            <a:off x="365760" y="187452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Boolean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3"/>
          <p:cNvSpPr/>
          <p:nvPr/>
        </p:nvSpPr>
        <p:spPr>
          <a:xfrm>
            <a:off x="365760" y="219456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Assign True to x, False to y. Print: x and y, x or y, not x.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4709160" y="1874520"/>
            <a:ext cx="4206240" cy="914400"/>
          </a:xfrm>
          <a:prstGeom prst="roundRect">
            <a:avLst>
              <a:gd fmla="val 8000" name="adj"/>
            </a:avLst>
          </a:prstGeom>
          <a:solidFill>
            <a:srgbClr val="122040"/>
          </a:solidFill>
          <a:ln cap="flat" cmpd="sng" w="127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3"/>
          <p:cNvSpPr/>
          <p:nvPr/>
        </p:nvSpPr>
        <p:spPr>
          <a:xfrm>
            <a:off x="4709160" y="1874520"/>
            <a:ext cx="4206240" cy="292608"/>
          </a:xfrm>
          <a:prstGeom prst="rect">
            <a:avLst/>
          </a:prstGeom>
          <a:solidFill>
            <a:srgbClr val="FF9F43">
              <a:alpha val="70196"/>
            </a:srgbClr>
          </a:solidFill>
          <a:ln cap="flat" cmpd="sng" w="127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3"/>
          <p:cNvSpPr/>
          <p:nvPr/>
        </p:nvSpPr>
        <p:spPr>
          <a:xfrm>
            <a:off x="4800600" y="187452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if-elif-else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4800600" y="219456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Input exam mark (0-100). Print Pass (≥40), Fail (&lt;40), or Invalid.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274320" y="2926080"/>
            <a:ext cx="4206240" cy="914400"/>
          </a:xfrm>
          <a:prstGeom prst="roundRect">
            <a:avLst>
              <a:gd fmla="val 8000" name="adj"/>
            </a:avLst>
          </a:prstGeom>
          <a:solidFill>
            <a:srgbClr val="122040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274320" y="2926080"/>
            <a:ext cx="4206240" cy="292608"/>
          </a:xfrm>
          <a:prstGeom prst="rect">
            <a:avLst/>
          </a:prstGeom>
          <a:solidFill>
            <a:srgbClr val="A78BFA">
              <a:alpha val="70196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365760" y="292608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Nested if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365760" y="324612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Leap year checker: divisible by 4, but not 100 unless also by 400.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4709160" y="2926080"/>
            <a:ext cx="4206240" cy="914400"/>
          </a:xfrm>
          <a:prstGeom prst="roundRect">
            <a:avLst>
              <a:gd fmla="val 8000" name="adj"/>
            </a:avLst>
          </a:prstGeom>
          <a:solidFill>
            <a:srgbClr val="122040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3"/>
          <p:cNvSpPr/>
          <p:nvPr/>
        </p:nvSpPr>
        <p:spPr>
          <a:xfrm>
            <a:off x="4709160" y="2926080"/>
            <a:ext cx="4206240" cy="292608"/>
          </a:xfrm>
          <a:prstGeom prst="rect">
            <a:avLst/>
          </a:prstGeom>
          <a:solidFill>
            <a:srgbClr val="FF6B6B">
              <a:alpha val="70196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3"/>
          <p:cNvSpPr/>
          <p:nvPr/>
        </p:nvSpPr>
        <p:spPr>
          <a:xfrm>
            <a:off x="4800600" y="292608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For loop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4800600" y="324612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Print all even numbers from 1-100. Find their sum.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/>
          <p:nvPr/>
        </p:nvSpPr>
        <p:spPr>
          <a:xfrm>
            <a:off x="274320" y="3977640"/>
            <a:ext cx="4206240" cy="914400"/>
          </a:xfrm>
          <a:prstGeom prst="roundRect">
            <a:avLst>
              <a:gd fmla="val 8000" name="adj"/>
            </a:avLst>
          </a:prstGeom>
          <a:solidFill>
            <a:srgbClr val="122040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3"/>
          <p:cNvSpPr/>
          <p:nvPr/>
        </p:nvSpPr>
        <p:spPr>
          <a:xfrm>
            <a:off x="274320" y="3977640"/>
            <a:ext cx="4206240" cy="292608"/>
          </a:xfrm>
          <a:prstGeom prst="rect">
            <a:avLst/>
          </a:prstGeom>
          <a:solidFill>
            <a:srgbClr val="34D399">
              <a:alpha val="70196"/>
            </a:srgbClr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3"/>
          <p:cNvSpPr/>
          <p:nvPr/>
        </p:nvSpPr>
        <p:spPr>
          <a:xfrm>
            <a:off x="365760" y="397764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Nested loops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365760" y="429768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Print a 5-row number triangle: 1 / 12 / 123 / 1234 / 12345.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4709160" y="3977640"/>
            <a:ext cx="4206240" cy="914400"/>
          </a:xfrm>
          <a:prstGeom prst="roundRect">
            <a:avLst>
              <a:gd fmla="val 8000" name="adj"/>
            </a:avLst>
          </a:prstGeom>
          <a:solidFill>
            <a:srgbClr val="122040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4709160" y="3977640"/>
            <a:ext cx="4206240" cy="292608"/>
          </a:xfrm>
          <a:prstGeom prst="rect">
            <a:avLst/>
          </a:prstGeom>
          <a:solidFill>
            <a:srgbClr val="60A5FA">
              <a:alpha val="70196"/>
            </a:srgbClr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3"/>
          <p:cNvSpPr/>
          <p:nvPr/>
        </p:nvSpPr>
        <p:spPr>
          <a:xfrm>
            <a:off x="4800600" y="397764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Bill Generator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4800600" y="429768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Input item name, quantity (int), price (float). Print total with f-strings.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4"/>
          <p:cNvSpPr/>
          <p:nvPr/>
        </p:nvSpPr>
        <p:spPr>
          <a:xfrm>
            <a:off x="1828800" y="457200"/>
            <a:ext cx="5486400" cy="5486400"/>
          </a:xfrm>
          <a:prstGeom prst="ellipse">
            <a:avLst/>
          </a:prstGeom>
          <a:solidFill>
            <a:srgbClr val="00C9A7">
              <a:alpha val="10196"/>
            </a:srgbClr>
          </a:solidFill>
          <a:ln cap="flat" cmpd="sng" w="12700">
            <a:solidFill>
              <a:srgbClr val="00C9A7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3474720" y="548640"/>
            <a:ext cx="2194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Calibri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You've Got This!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Review the slides · Practice the exercises · Ask questions!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457200" y="3749040"/>
            <a:ext cx="1920240" cy="384048"/>
          </a:xfrm>
          <a:prstGeom prst="roundRect">
            <a:avLst>
              <a:gd fmla="val 23810" name="adj"/>
            </a:avLst>
          </a:prstGeom>
          <a:solidFill>
            <a:srgbClr val="122040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457200" y="374904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Variables 📦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2542032" y="3749040"/>
            <a:ext cx="1920240" cy="384048"/>
          </a:xfrm>
          <a:prstGeom prst="roundRect">
            <a:avLst>
              <a:gd fmla="val 23810" name="adj"/>
            </a:avLst>
          </a:prstGeom>
          <a:solidFill>
            <a:srgbClr val="122040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4"/>
          <p:cNvSpPr/>
          <p:nvPr/>
        </p:nvSpPr>
        <p:spPr>
          <a:xfrm>
            <a:off x="2542032" y="374904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Data Types 🔢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4626864" y="3749040"/>
            <a:ext cx="1920240" cy="384048"/>
          </a:xfrm>
          <a:prstGeom prst="roundRect">
            <a:avLst>
              <a:gd fmla="val 23810" name="adj"/>
            </a:avLst>
          </a:prstGeom>
          <a:solidFill>
            <a:srgbClr val="122040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4"/>
          <p:cNvSpPr/>
          <p:nvPr/>
        </p:nvSpPr>
        <p:spPr>
          <a:xfrm>
            <a:off x="4626864" y="374904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Operators ⚙️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6711696" y="3749040"/>
            <a:ext cx="1920240" cy="384048"/>
          </a:xfrm>
          <a:prstGeom prst="roundRect">
            <a:avLst>
              <a:gd fmla="val 23810" name="adj"/>
            </a:avLst>
          </a:prstGeom>
          <a:solidFill>
            <a:srgbClr val="122040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4"/>
          <p:cNvSpPr/>
          <p:nvPr/>
        </p:nvSpPr>
        <p:spPr>
          <a:xfrm>
            <a:off x="6711696" y="374904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print() 🖨️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457200" y="4224528"/>
            <a:ext cx="1920240" cy="384048"/>
          </a:xfrm>
          <a:prstGeom prst="roundRect">
            <a:avLst>
              <a:gd fmla="val 23810" name="adj"/>
            </a:avLst>
          </a:prstGeom>
          <a:solidFill>
            <a:srgbClr val="122040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4"/>
          <p:cNvSpPr/>
          <p:nvPr/>
        </p:nvSpPr>
        <p:spPr>
          <a:xfrm>
            <a:off x="457200" y="422452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input() ⌨️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4"/>
          <p:cNvSpPr/>
          <p:nvPr/>
        </p:nvSpPr>
        <p:spPr>
          <a:xfrm>
            <a:off x="2542032" y="4224528"/>
            <a:ext cx="1920240" cy="384048"/>
          </a:xfrm>
          <a:prstGeom prst="roundRect">
            <a:avLst>
              <a:gd fmla="val 23810" name="adj"/>
            </a:avLst>
          </a:prstGeom>
          <a:solidFill>
            <a:srgbClr val="122040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4"/>
          <p:cNvSpPr/>
          <p:nvPr/>
        </p:nvSpPr>
        <p:spPr>
          <a:xfrm>
            <a:off x="2542032" y="422452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if-elif-else 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4"/>
          <p:cNvSpPr/>
          <p:nvPr/>
        </p:nvSpPr>
        <p:spPr>
          <a:xfrm>
            <a:off x="4626864" y="4224528"/>
            <a:ext cx="1920240" cy="384048"/>
          </a:xfrm>
          <a:prstGeom prst="roundRect">
            <a:avLst>
              <a:gd fmla="val 23810" name="adj"/>
            </a:avLst>
          </a:prstGeom>
          <a:solidFill>
            <a:srgbClr val="122040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4"/>
          <p:cNvSpPr/>
          <p:nvPr/>
        </p:nvSpPr>
        <p:spPr>
          <a:xfrm>
            <a:off x="4626864" y="422452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Loops 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6711696" y="4224528"/>
            <a:ext cx="1920240" cy="384048"/>
          </a:xfrm>
          <a:prstGeom prst="roundRect">
            <a:avLst>
              <a:gd fmla="val 23810" name="adj"/>
            </a:avLst>
          </a:prstGeom>
          <a:solidFill>
            <a:srgbClr val="122040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4"/>
          <p:cNvSpPr/>
          <p:nvPr/>
        </p:nvSpPr>
        <p:spPr>
          <a:xfrm>
            <a:off x="6711696" y="422452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break/continue 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