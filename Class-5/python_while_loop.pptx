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" name="Google Shape;3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31920" y="41148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b="1" i="0" lang="en-US" sz="5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Loop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914400" y="2598650"/>
            <a:ext cx="7315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Keep Going Until It's Done!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71600" y="347472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Presented by: Md Mostafizur Rahaman</a:t>
            </a:r>
            <a:b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MSc student at IIT</a:t>
            </a:r>
            <a:endParaRPr b="1" i="0" sz="1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5097780"/>
            <a:ext cx="914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Exactly is a </a:t>
            </a:r>
            <a:r>
              <a:rPr b="1" i="0" lang="en-US" sz="3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Loop?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457200" y="118872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 Think of it like waiting for a bus.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196596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2DD4BF"/>
                </a:solidFill>
                <a:latin typeface="Calibri"/>
                <a:ea typeface="Calibri"/>
                <a:cs typeface="Calibri"/>
                <a:sym typeface="Calibri"/>
              </a:rPr>
              <a:t>•  Condition: 'I will wait as long as the bus hasn't arrived.'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274320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•  As long as condition is True (no bus) → you keep waiting (looping).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3520440"/>
            <a:ext cx="5486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•  When condition becomes False (bus arrives) → you stop waiting!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217920" y="1371600"/>
            <a:ext cx="2560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🚌🧍‍♂️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0" y="5097780"/>
            <a:ext cx="1828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How the Computer Reads It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365760" y="1005840"/>
            <a:ext cx="4572000" cy="3200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640080" y="123444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1.  Check the condition.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640080" y="1947672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2.  If it's True, run the code inside.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40080" y="2660904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3.  Go back up and check again.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640080" y="3374136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4.  If it's False, skip the code and exit!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217920" y="914400"/>
            <a:ext cx="1828800" cy="50292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6217920" y="914400"/>
            <a:ext cx="1828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7040880" y="1417320"/>
            <a:ext cx="73152" cy="41148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6217920" y="1828800"/>
            <a:ext cx="1828800" cy="685800"/>
          </a:xfrm>
          <a:prstGeom prst="rect">
            <a:avLst/>
          </a:prstGeom>
          <a:solidFill>
            <a:srgbClr val="3B82F6"/>
          </a:solidFill>
          <a:ln cap="flat" cmpd="sng" w="19050">
            <a:solidFill>
              <a:srgbClr val="60A5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6217920" y="1828800"/>
            <a:ext cx="1828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(True/False)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040880" y="2514600"/>
            <a:ext cx="73152" cy="3200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217920" y="28346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Calibri"/>
                <a:ea typeface="Calibri"/>
                <a:cs typeface="Calibri"/>
                <a:sym typeface="Calibri"/>
              </a:rPr>
              <a:t>True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217920" y="3108960"/>
            <a:ext cx="1828800" cy="594360"/>
          </a:xfrm>
          <a:prstGeom prst="rect">
            <a:avLst/>
          </a:prstGeom>
          <a:solidFill>
            <a:srgbClr val="334155"/>
          </a:solidFill>
          <a:ln cap="flat" cmpd="sng" w="25400">
            <a:solidFill>
              <a:srgbClr val="4ADE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17920" y="3108960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Code Block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7040880" y="3703320"/>
            <a:ext cx="73152" cy="32004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5852160" y="402336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↑ Loops back to condition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0" y="5097780"/>
            <a:ext cx="2743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The 3 Golden Rules! 🏆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Every working while loop needs these 3 parts: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57200" y="128016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457200" y="12801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188720" y="12801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Initialize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188720" y="15819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do we start?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57200" y="2194560"/>
            <a:ext cx="548640" cy="548640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188720" y="21945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188720" y="24963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When do we stop?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188720" y="310896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188720" y="341071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How do we move forward?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754880" y="868680"/>
            <a:ext cx="4114800" cy="402336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4892040" y="96012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5093208" y="960120"/>
            <a:ext cx="137160" cy="13716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294376" y="96012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846320" y="123444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# 1. Initialize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846320" y="154533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count =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846320" y="185623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846320" y="216712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# 2. Condition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846320" y="2478024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count &lt;= 5: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846320" y="2788920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print(f"Count: {count}")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846320" y="3099816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846320" y="3410712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  # 3. Update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846320" y="3721608"/>
            <a:ext cx="3840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    count = count + 1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0" y="5097780"/>
            <a:ext cx="3657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457200" y="182880"/>
            <a:ext cx="5943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Fun Example: Countdown! 🚀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57200" y="82296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Let's launch a rocket by counting backward from 10.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365760" y="1371600"/>
            <a:ext cx="5486400" cy="347460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502920" y="1463040"/>
            <a:ext cx="137100" cy="1371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704088" y="1463040"/>
            <a:ext cx="137100" cy="13710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905256" y="1463040"/>
            <a:ext cx="137100" cy="1371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502920" y="1737360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number = 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02920" y="2066544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print("Countdown:")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502920" y="2395728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502920" y="2724912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number &gt; 0: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502920" y="3054096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print(number)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502920" y="3383280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onsolas"/>
                <a:ea typeface="Consolas"/>
                <a:cs typeface="Consolas"/>
                <a:sym typeface="Consolas"/>
              </a:rPr>
              <a:t>    # Counting down!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502920" y="3712464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    number = number - 1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02920" y="4041648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02920" y="4370832"/>
            <a:ext cx="52122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print("Blast off! 🚀")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6400800" y="1645920"/>
            <a:ext cx="2286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Calibri"/>
              <a:buNone/>
            </a:pPr>
            <a:r>
              <a:rPr b="0" i="0" lang="en-US" sz="9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0" y="5097780"/>
            <a:ext cx="9144000" cy="45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0" y="5097780"/>
            <a:ext cx="4572000" cy="45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82880" y="4846320"/>
            <a:ext cx="8778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When to use which loop?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365760" y="914400"/>
            <a:ext cx="3657600" cy="3931920"/>
          </a:xfrm>
          <a:prstGeom prst="rect">
            <a:avLst/>
          </a:prstGeom>
          <a:solidFill>
            <a:srgbClr val="1E293B"/>
          </a:solidFill>
          <a:ln cap="flat" cmpd="sng" w="38100">
            <a:solidFill>
              <a:srgbClr val="A855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8"/>
          <p:cNvSpPr/>
          <p:nvPr/>
        </p:nvSpPr>
        <p:spPr>
          <a:xfrm>
            <a:off x="365760" y="914400"/>
            <a:ext cx="3657600" cy="1097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8"/>
          <p:cNvSpPr/>
          <p:nvPr/>
        </p:nvSpPr>
        <p:spPr>
          <a:xfrm>
            <a:off x="457200" y="10972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4FC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C084FC"/>
                </a:solidFill>
                <a:latin typeface="Consolas"/>
                <a:ea typeface="Consolas"/>
                <a:cs typeface="Consolas"/>
                <a:sym typeface="Consolas"/>
              </a:rPr>
              <a:t>for Loop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548640" y="16916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When you know exactly how many times to repeat.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365760" y="256032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🏋️‍♂️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57200" y="3749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"Do exactly 10 push-ups."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4023360" y="228600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5120640" y="914400"/>
            <a:ext cx="3657600" cy="3931920"/>
          </a:xfrm>
          <a:prstGeom prst="rect">
            <a:avLst/>
          </a:prstGeom>
          <a:solidFill>
            <a:srgbClr val="1E293B"/>
          </a:solidFill>
          <a:ln cap="flat" cmpd="sng" w="381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5120640" y="914400"/>
            <a:ext cx="3657600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5212080" y="109728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600"/>
              <a:buFont typeface="Consolas"/>
              <a:buNone/>
            </a:pPr>
            <a:r>
              <a:rPr b="1" i="0" lang="en-US" sz="26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while Loop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303520" y="16916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When you don't know how many times, just a condition.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120640" y="256032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</a:pPr>
            <a:r>
              <a:rPr b="0" i="0" lang="en-US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🚗⛽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5212080" y="374904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"Keep driving until fuel is empty."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0" y="5097780"/>
            <a:ext cx="54864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0000"/>
          </a:solidFill>
          <a:ln cap="flat" cmpd="sng" w="508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9" name="Google Shape;1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286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9"/>
          <p:cNvSpPr/>
          <p:nvPr/>
        </p:nvSpPr>
        <p:spPr>
          <a:xfrm>
            <a:off x="1005840" y="228600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DANGER: Infinite Loop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What happens if you forget Rule #3 (The Update)?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548640" y="14630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• The condition never becomes False.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48640" y="1965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• The loop runs FOREVER.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548640" y="2468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CA5A5"/>
                </a:solidFill>
                <a:latin typeface="Calibri"/>
                <a:ea typeface="Calibri"/>
                <a:cs typeface="Calibri"/>
                <a:sym typeface="Calibri"/>
              </a:rPr>
              <a:t>• Your program crashes/hangs!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365760" y="2834640"/>
            <a:ext cx="5029200" cy="1920240"/>
          </a:xfrm>
          <a:prstGeom prst="rect">
            <a:avLst/>
          </a:prstGeom>
          <a:solidFill>
            <a:srgbClr val="1E1E1E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"/>
          <p:cNvSpPr/>
          <p:nvPr/>
        </p:nvSpPr>
        <p:spPr>
          <a:xfrm>
            <a:off x="548640" y="292608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count =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548640" y="3255264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count &lt;= 5: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548640" y="3584448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print(count)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548640" y="3913632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    # MISSING: count = count + 1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48640" y="4242816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    # Prints forever! ☠️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0" y="137160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Calibri"/>
              <a:buNone/>
            </a:pPr>
            <a:r>
              <a:rPr b="0" i="0" lang="en-US" sz="7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🐹🔄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303520" y="320040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87171"/>
                </a:solidFill>
                <a:latin typeface="Calibri"/>
                <a:ea typeface="Calibri"/>
                <a:cs typeface="Calibri"/>
                <a:sym typeface="Calibri"/>
              </a:rPr>
              <a:t>RUNNING FOREVER...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0" y="5097780"/>
            <a:ext cx="64008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Loop Control: Rules Breakers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1783080" y="1143000"/>
            <a:ext cx="1097280" cy="109728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4" name="Google Shape;1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0240" y="128016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/>
          <p:nvPr/>
        </p:nvSpPr>
        <p:spPr>
          <a:xfrm>
            <a:off x="457200" y="23774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7171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F87171"/>
                </a:solidFill>
                <a:latin typeface="Consolas"/>
                <a:ea typeface="Consolas"/>
                <a:cs typeface="Consolas"/>
                <a:sym typeface="Consolas"/>
              </a:rPr>
              <a:t>break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48640" y="29260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Emergency Exit.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548640" y="333756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Stops the loop completely, no matter what the condition is, and jumps out.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4846320" y="960120"/>
            <a:ext cx="3931920" cy="384048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263640" y="1143000"/>
            <a:ext cx="1097280" cy="10972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0" name="Google Shape;1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28016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0"/>
          <p:cNvSpPr/>
          <p:nvPr/>
        </p:nvSpPr>
        <p:spPr>
          <a:xfrm>
            <a:off x="4937760" y="2377440"/>
            <a:ext cx="3749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2800"/>
              <a:buFont typeface="Consolas"/>
              <a:buNone/>
            </a:pPr>
            <a:r>
              <a:rPr b="1" i="0" lang="en-US" sz="28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continue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5029200" y="292608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Skip Button.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029200" y="333756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Skips the rest of the current round and jumps right back to the top condition check.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0" y="5097780"/>
            <a:ext cx="73152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457200" y="182880"/>
            <a:ext cx="5943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60A5FA"/>
                </a:solidFill>
                <a:latin typeface="Calibri"/>
                <a:ea typeface="Calibri"/>
                <a:cs typeface="Calibri"/>
                <a:sym typeface="Calibri"/>
              </a:rPr>
              <a:t>Real-Life: Password Checker 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57200" y="82296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 common use: force a user to enter valid information. It will keep asking until correct!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365760" y="1463040"/>
            <a:ext cx="5486400" cy="3383280"/>
          </a:xfrm>
          <a:prstGeom prst="rect">
            <a:avLst/>
          </a:prstGeom>
          <a:solidFill>
            <a:srgbClr val="1E1E1E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502920" y="1554480"/>
            <a:ext cx="137160" cy="1371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704088" y="1554480"/>
            <a:ext cx="137160" cy="137160"/>
          </a:xfrm>
          <a:prstGeom prst="ellipse">
            <a:avLst/>
          </a:prstGeom>
          <a:solidFill>
            <a:srgbClr val="EAB30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1"/>
          <p:cNvSpPr/>
          <p:nvPr/>
        </p:nvSpPr>
        <p:spPr>
          <a:xfrm>
            <a:off x="905256" y="1554480"/>
            <a:ext cx="137160" cy="1371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"/>
          <p:cNvSpPr/>
          <p:nvPr/>
        </p:nvSpPr>
        <p:spPr>
          <a:xfrm>
            <a:off x="502920" y="1828800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correct_pwd = "python123"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502920" y="2121408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2DD4BF"/>
                </a:solidFill>
                <a:latin typeface="Consolas"/>
                <a:ea typeface="Consolas"/>
                <a:cs typeface="Consolas"/>
                <a:sym typeface="Consolas"/>
              </a:rPr>
              <a:t>user_pwd = ""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02920" y="2414016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02920" y="2706624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while user_pwd != correct_pwd: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02920" y="2999232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user_pwd = input("Enter password: 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502920" y="3291840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502920" y="3584448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72B6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472B6"/>
                </a:solidFill>
                <a:latin typeface="Consolas"/>
                <a:ea typeface="Consolas"/>
                <a:cs typeface="Consolas"/>
                <a:sym typeface="Consolas"/>
              </a:rPr>
              <a:t>    if user_pwd != correct_pwd: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502920" y="3877056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0A5FA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60A5FA"/>
                </a:solidFill>
                <a:latin typeface="Consolas"/>
                <a:ea typeface="Consolas"/>
                <a:cs typeface="Consolas"/>
                <a:sym typeface="Consolas"/>
              </a:rPr>
              <a:t>        print("Wrong! Try again.")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502920" y="4169664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02920" y="4462272"/>
            <a:ext cx="52120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DE8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ADE80"/>
                </a:solidFill>
                <a:latin typeface="Consolas"/>
                <a:ea typeface="Consolas"/>
                <a:cs typeface="Consolas"/>
                <a:sym typeface="Consolas"/>
              </a:rPr>
              <a:t>print("Access granted! 🔓")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6583680" y="640080"/>
            <a:ext cx="2103120" cy="4114800"/>
          </a:xfrm>
          <a:prstGeom prst="roundRect">
            <a:avLst>
              <a:gd fmla="val 13043" name="adj"/>
            </a:avLst>
          </a:prstGeom>
          <a:solidFill>
            <a:srgbClr val="0F172A"/>
          </a:solidFill>
          <a:ln cap="flat" cmpd="sng" w="508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7086600" y="640080"/>
            <a:ext cx="1097280" cy="228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0" name="Google Shape;21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9480" y="118872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6766560" y="2148840"/>
            <a:ext cx="1737360" cy="4572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6766560" y="214884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* * * * *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6766560" y="269748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7269480" y="269748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"/>
          <p:cNvSpPr/>
          <p:nvPr/>
        </p:nvSpPr>
        <p:spPr>
          <a:xfrm>
            <a:off x="7772400" y="269748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"/>
          <p:cNvSpPr/>
          <p:nvPr/>
        </p:nvSpPr>
        <p:spPr>
          <a:xfrm>
            <a:off x="6766560" y="324612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"/>
          <p:cNvSpPr/>
          <p:nvPr/>
        </p:nvSpPr>
        <p:spPr>
          <a:xfrm>
            <a:off x="7269480" y="324612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7772400" y="3246120"/>
            <a:ext cx="411480" cy="411480"/>
          </a:xfrm>
          <a:prstGeom prst="ellipse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0" y="5097780"/>
            <a:ext cx="8229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7" name="Google Shape;22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27432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2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Any Questions?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Thank you for listening!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182880" y="4846320"/>
            <a:ext cx="8778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